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8"/>
  </p:notesMasterIdLst>
  <p:handoutMasterIdLst>
    <p:handoutMasterId r:id="rId79"/>
  </p:handoutMasterIdLst>
  <p:sldIdLst>
    <p:sldId id="331" r:id="rId2"/>
    <p:sldId id="332" r:id="rId3"/>
    <p:sldId id="333" r:id="rId4"/>
    <p:sldId id="420" r:id="rId5"/>
    <p:sldId id="424" r:id="rId6"/>
    <p:sldId id="338" r:id="rId7"/>
    <p:sldId id="339" r:id="rId8"/>
    <p:sldId id="480" r:id="rId9"/>
    <p:sldId id="446" r:id="rId10"/>
    <p:sldId id="453" r:id="rId11"/>
    <p:sldId id="459" r:id="rId12"/>
    <p:sldId id="460" r:id="rId13"/>
    <p:sldId id="458" r:id="rId14"/>
    <p:sldId id="457" r:id="rId15"/>
    <p:sldId id="407" r:id="rId16"/>
    <p:sldId id="427" r:id="rId17"/>
    <p:sldId id="447" r:id="rId18"/>
    <p:sldId id="429" r:id="rId19"/>
    <p:sldId id="456" r:id="rId20"/>
    <p:sldId id="462" r:id="rId21"/>
    <p:sldId id="463" r:id="rId22"/>
    <p:sldId id="464" r:id="rId23"/>
    <p:sldId id="343" r:id="rId24"/>
    <p:sldId id="433" r:id="rId25"/>
    <p:sldId id="448" r:id="rId26"/>
    <p:sldId id="346" r:id="rId27"/>
    <p:sldId id="449" r:id="rId28"/>
    <p:sldId id="348" r:id="rId29"/>
    <p:sldId id="349" r:id="rId30"/>
    <p:sldId id="434" r:id="rId31"/>
    <p:sldId id="435" r:id="rId32"/>
    <p:sldId id="450" r:id="rId33"/>
    <p:sldId id="432" r:id="rId34"/>
    <p:sldId id="352" r:id="rId35"/>
    <p:sldId id="451" r:id="rId36"/>
    <p:sldId id="472" r:id="rId37"/>
    <p:sldId id="354" r:id="rId38"/>
    <p:sldId id="355" r:id="rId39"/>
    <p:sldId id="452" r:id="rId40"/>
    <p:sldId id="356" r:id="rId41"/>
    <p:sldId id="418" r:id="rId42"/>
    <p:sldId id="292" r:id="rId43"/>
    <p:sldId id="293" r:id="rId44"/>
    <p:sldId id="482" r:id="rId45"/>
    <p:sldId id="483" r:id="rId46"/>
    <p:sldId id="454" r:id="rId47"/>
    <p:sldId id="484" r:id="rId48"/>
    <p:sldId id="455" r:id="rId49"/>
    <p:sldId id="502" r:id="rId50"/>
    <p:sldId id="299" r:id="rId51"/>
    <p:sldId id="503" r:id="rId52"/>
    <p:sldId id="342" r:id="rId53"/>
    <p:sldId id="504" r:id="rId54"/>
    <p:sldId id="366" r:id="rId55"/>
    <p:sldId id="505" r:id="rId56"/>
    <p:sldId id="368" r:id="rId57"/>
    <p:sldId id="506" r:id="rId58"/>
    <p:sldId id="507" r:id="rId59"/>
    <p:sldId id="369" r:id="rId60"/>
    <p:sldId id="370" r:id="rId61"/>
    <p:sldId id="476" r:id="rId62"/>
    <p:sldId id="371" r:id="rId63"/>
    <p:sldId id="372" r:id="rId64"/>
    <p:sldId id="481" r:id="rId65"/>
    <p:sldId id="377" r:id="rId66"/>
    <p:sldId id="378" r:id="rId67"/>
    <p:sldId id="379" r:id="rId68"/>
    <p:sldId id="380" r:id="rId69"/>
    <p:sldId id="419" r:id="rId70"/>
    <p:sldId id="479" r:id="rId71"/>
    <p:sldId id="381" r:id="rId72"/>
    <p:sldId id="475" r:id="rId73"/>
    <p:sldId id="438" r:id="rId74"/>
    <p:sldId id="437" r:id="rId75"/>
    <p:sldId id="439" r:id="rId76"/>
    <p:sldId id="404" r:id="rId77"/>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5"/>
    <p:restoredTop sz="94646"/>
  </p:normalViewPr>
  <p:slideViewPr>
    <p:cSldViewPr snapToGrid="0">
      <p:cViewPr varScale="1">
        <p:scale>
          <a:sx n="107" d="100"/>
          <a:sy n="107" d="100"/>
        </p:scale>
        <p:origin x="1638" y="9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‹Nº›</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‹Nº›</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B025375E-C754-4E05-968D-7FF425AF6E40}" type="slidenum">
              <a:rPr lang="en-US"/>
              <a:pPr/>
              <a:t>42</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8E8388E-D407-4177-B9B3-9741CDB83020}" type="slidenum">
              <a:rPr lang="en-US"/>
              <a:pPr/>
              <a:t>43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3F75E383-F5D7-4A17-87BB-65D4F8D465F1}" type="slidenum">
              <a:rPr lang="en-US"/>
              <a:pPr/>
              <a:t>44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7666C6C1-13B4-4F7C-8595-06DC345B86FA}" type="slidenum">
              <a:rPr lang="en-US"/>
              <a:pPr/>
              <a:t>45</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8F0FEAF9-43F7-4765-8B5E-CE205CDE649D}" type="slidenum">
              <a:rPr lang="en-US"/>
              <a:pPr/>
              <a:t>46</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0E26FE39-58A9-4A47-B51B-14E7282433A6}" type="slidenum">
              <a:rPr lang="en-US"/>
              <a:pPr/>
              <a:t>47</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F818A8C2-EFCD-417A-B5E7-5B9AA56DF7EF}" type="slidenum">
              <a:rPr lang="en-US"/>
              <a:pPr/>
              <a:t>48</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9507343-BEE7-4F47-83FA-9B9C3C11DCAA}" type="slidenum">
              <a:rPr lang="en-US"/>
              <a:pPr/>
              <a:t>49</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1AC3764A-52C5-463A-9EC2-B0E8900EF3C6}" type="slidenum">
              <a:rPr lang="en-US"/>
              <a:pPr/>
              <a:t>50</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AE653390-B69B-4D43-A0AB-092B25513358}" type="slidenum">
              <a:rPr lang="en-US"/>
              <a:pPr/>
              <a:t>51</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4D4E0DC9-1695-4FD6-8144-B5624A1B7C13}" type="slidenum">
              <a:rPr lang="en-US"/>
              <a:pPr/>
              <a:t>52</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C469073D-0412-4720-87DD-C608CB502FAA}" type="slidenum">
              <a:rPr lang="en-US"/>
              <a:pPr/>
              <a:t>53</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1DD1F545-5C3D-455E-B279-DEBB8C8D8AE7}" type="slidenum">
              <a:rPr lang="en-US"/>
              <a:pPr/>
              <a:t>54</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346F75F5-E807-42D0-A1E2-E9B5FD4D39EA}" type="slidenum">
              <a:rPr lang="en-US"/>
              <a:pPr/>
              <a:t>55</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FD461E3B-4B9A-42ED-BB48-A43E6E4406AE}" type="slidenum">
              <a:rPr lang="en-US"/>
              <a:pPr/>
              <a:t>56</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54B60FBD-2A68-46EE-A237-B5905757DB8E}" type="slidenum">
              <a:rPr lang="en-US"/>
              <a:pPr/>
              <a:t>57</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9226560D-92EF-4279-83BD-31BFBDA74060}" type="slidenum">
              <a:rPr lang="en-US"/>
              <a:pPr/>
              <a:t>58</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endParaRPr lang="es-E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63</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64</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65</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66</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67</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69</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70</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71</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72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75</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76</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‹Nº›</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6" y="1144588"/>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006699"/>
                </a:solidFill>
                <a:latin typeface="+mj-lt"/>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746445"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755776"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755776"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p>
          <a:p>
            <a:pPr>
              <a:lnSpc>
                <a:spcPct val="90000"/>
              </a:lnSpc>
              <a:tabLst>
                <a:tab pos="739775" algn="l"/>
                <a:tab pos="1020763"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236768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51114"/>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r>
              <a:rPr lang="en-US" altLang="en-US" dirty="0">
                <a:solidFill>
                  <a:srgbClr val="000000"/>
                </a:solidFill>
              </a:rPr>
              <a:t>What about the Progress requirement?</a:t>
            </a: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p>
          <a:p>
            <a:pPr lvl="1"/>
            <a:r>
              <a:rPr lang="en-US" altLang="en-US" dirty="0"/>
              <a:t>To improve performance, processors and/or compilers may reorder operations that have no dependencies</a:t>
            </a:r>
          </a:p>
          <a:p>
            <a:r>
              <a:rPr lang="en-US" altLang="en-US" dirty="0"/>
              <a:t>Understanding why it will not work is useful for better understanding race conditions.</a:t>
            </a:r>
          </a:p>
          <a:p>
            <a:r>
              <a:rPr lang="en-US" altLang="en-US" dirty="0"/>
              <a:t>For single-threaded this is ok as the result will always be the same.</a:t>
            </a:r>
          </a:p>
          <a:p>
            <a:r>
              <a:rPr lang="en-US" altLang="en-US" dirty="0"/>
              <a:t>For multithreaded the reordering may produce inconsistent or unexpected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r>
              <a:rPr lang="en-US" altLang="en-US" dirty="0"/>
              <a:t>The effects of instruction reordering in Peterson’s Solution</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b="1" dirty="0"/>
              <a:t>Memory model </a:t>
            </a:r>
            <a:r>
              <a:rPr lang="en-US" altLang="en-US" dirty="0"/>
              <a:t>are the memory guarantees a computer architecture makes to application programs.</a:t>
            </a:r>
          </a:p>
          <a:p>
            <a:r>
              <a:rPr lang="en-US" altLang="en-US" dirty="0"/>
              <a:t>Memory models may be either:</a:t>
            </a:r>
          </a:p>
          <a:p>
            <a:pPr lvl="1"/>
            <a:r>
              <a:rPr lang="en-US" altLang="en-US" b="1" dirty="0"/>
              <a:t>Strongly ordered </a:t>
            </a:r>
            <a:r>
              <a:rPr lang="en-US" altLang="en-US" dirty="0"/>
              <a:t>– where a memory modification of one processor is immediately visible to all other processors.</a:t>
            </a:r>
          </a:p>
          <a:p>
            <a:pPr lvl="1"/>
            <a:r>
              <a:rPr lang="en-US" altLang="en-US" b="1" dirty="0"/>
              <a:t>Weakly ordered  </a:t>
            </a:r>
            <a:r>
              <a:rPr lang="en-US" altLang="en-US" dirty="0"/>
              <a:t>– where a memory modification of one processor may not be immediately visible to all other processors.</a:t>
            </a:r>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dirty="0"/>
              <a:t>When a memory barrier instruction is performed, the system ensures that all loads and stores are completed before any subsequent load or store operations are performed.</a:t>
            </a:r>
          </a:p>
          <a:p>
            <a:r>
              <a:rPr lang="en-US" altLang="en-US" dirty="0"/>
              <a:t>Therefore, even if instructions were reordered, the memory barrier ensures that the store operations are completed in memory and visible to other processors before future load or store operations are performed.</a:t>
            </a:r>
          </a:p>
          <a:p>
            <a:endParaRPr lang="en-US" altLang="en-US" dirty="0"/>
          </a:p>
        </p:txBody>
      </p:sp>
    </p:spTree>
    <p:extLst>
      <p:ext uri="{BB962C8B-B14F-4D97-AF65-F5344CB8AC3E}">
        <p14:creationId xmlns:p14="http://schemas.microsoft.com/office/powerpoint/2010/main" val="1006609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837622" y="1161866"/>
            <a:ext cx="6726959" cy="4854469"/>
          </a:xfrm>
        </p:spPr>
        <p:txBody>
          <a:bodyPr/>
          <a:lstStyle/>
          <a:p>
            <a:r>
              <a:rPr lang="en-US" altLang="en-US" dirty="0"/>
              <a:t>Returning to the example of slides 6.17 - 6.18</a:t>
            </a:r>
          </a:p>
          <a:p>
            <a:r>
              <a:rPr lang="en-US" altLang="en-US" dirty="0"/>
              <a:t>We could add a memory barrier to the following instructions to ensure Thread 1 outputs 100:</a:t>
            </a:r>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a:t>
            </a:r>
            <a:br>
              <a:rPr lang="en-US" altLang="en-US" dirty="0"/>
            </a:br>
            <a:br>
              <a:rPr lang="en-US" altLang="en-US" dirty="0"/>
            </a:br>
            <a:r>
              <a:rPr lang="en-US" altLang="en-US" dirty="0">
                <a:solidFill>
                  <a:srgbClr val="CC6600"/>
                </a:solidFill>
              </a:rPr>
              <a:t>2.  </a:t>
            </a:r>
            <a:r>
              <a:rPr lang="en-US" altLang="en-US" dirty="0"/>
              <a:t>Atomic variables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p>
          <a:p>
            <a:pPr lvl="1"/>
            <a:r>
              <a:rPr lang="en-US" altLang="en-US" b="1" dirty="0"/>
              <a:t>Test-and-Set</a:t>
            </a:r>
            <a:r>
              <a:rPr lang="en-US" altLang="en-US" dirty="0"/>
              <a:t> instruction</a:t>
            </a:r>
          </a:p>
          <a:p>
            <a:pPr lvl="1"/>
            <a:r>
              <a:rPr lang="en-US" altLang="en-US" b="1" dirty="0"/>
              <a:t>Compare-and-Swap</a:t>
            </a:r>
            <a:r>
              <a:rPr lang="en-US" altLang="en-US" dirty="0"/>
              <a:t> instruction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p>
          <a:p>
            <a:pPr marL="0" indent="0">
              <a:buFont typeface="Monotype Sorts" pitchFamily="-84" charset="2"/>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p>
          <a:p>
            <a:pPr marL="0" indent="0">
              <a:buFont typeface="Monotype Sorts" pitchFamily="-84" charset="2"/>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p>
          <a:p>
            <a:pPr marL="0" indent="0">
              <a:buFont typeface="Monotype Sorts" pitchFamily="-84" charset="2"/>
              <a:buNone/>
            </a:pPr>
            <a:r>
              <a:rPr lang="en-US" altLang="en-US" sz="1400" b="1" dirty="0">
                <a:latin typeface="Courier New" panose="02070309020205020404" pitchFamily="49" charset="0"/>
              </a:rPr>
              <a:t>   /* critical section */ </a:t>
            </a:r>
          </a:p>
          <a:p>
            <a:pPr marL="0" indent="0">
              <a:buFont typeface="Monotype Sorts" pitchFamily="-84" charset="2"/>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a:t>
            </a:r>
          </a:p>
          <a:p>
            <a:pPr marL="0" indent="0">
              <a:buFont typeface="Monotype Sorts" pitchFamily="-84" charset="2"/>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p>
          <a:p>
            <a:pPr marL="0" indent="0">
              <a:buFont typeface="Monotype Sorts" pitchFamily="-84" charset="2"/>
              <a:buNone/>
            </a:pPr>
            <a:r>
              <a:rPr lang="en-US" altLang="en-US" sz="1400" b="1" dirty="0">
                <a:latin typeface="Courier New" panose="02070309020205020404" pitchFamily="49" charset="0"/>
              </a:rPr>
              <a:t>      j = (j + 1) % n; </a:t>
            </a:r>
          </a:p>
          <a:p>
            <a:pPr marL="0" indent="0">
              <a:buFont typeface="Monotype Sorts" pitchFamily="-84" charset="2"/>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lock = 0; </a:t>
            </a:r>
          </a:p>
          <a:p>
            <a:pPr marL="0" indent="0">
              <a:buFont typeface="Monotype Sorts" pitchFamily="-84" charset="2"/>
              <a:buNone/>
            </a:pPr>
            <a:r>
              <a:rPr lang="en-US" altLang="en-US" sz="1400" b="1" dirty="0">
                <a:latin typeface="Courier New" panose="02070309020205020404" pitchFamily="49" charset="0"/>
              </a:rPr>
              <a:t>   else </a:t>
            </a:r>
          </a:p>
          <a:p>
            <a:pPr marL="0" indent="0">
              <a:buFont typeface="Monotype Sorts" pitchFamily="-84" charset="2"/>
              <a:buNone/>
            </a:pPr>
            <a:r>
              <a:rPr lang="en-US" altLang="en-US" sz="1400" b="1" dirty="0">
                <a:latin typeface="Courier New" panose="02070309020205020404" pitchFamily="49" charset="0"/>
              </a:rPr>
              <a:t>      waiting[j] = false; </a:t>
            </a:r>
          </a:p>
          <a:p>
            <a:pPr marL="0" indent="0">
              <a:buFont typeface="Monotype Sorts" pitchFamily="-84" charset="2"/>
              <a:buNone/>
            </a:pPr>
            <a:r>
              <a:rPr lang="en-US" altLang="en-US" sz="1400" b="1" dirty="0">
                <a:latin typeface="Courier New" panose="02070309020205020404" pitchFamily="49" charset="0"/>
              </a:rPr>
              <a:t>   /* remainder section */ </a:t>
            </a:r>
          </a:p>
          <a:p>
            <a:pPr marL="0" indent="0">
              <a:buFont typeface="Monotype Sorts" pitchFamily="-84" charset="2"/>
              <a:buNone/>
            </a:pPr>
            <a:r>
              <a:rPr lang="en-US" altLang="en-US" sz="1400" b="1" dirty="0">
                <a:latin typeface="Courier New" panose="02070309020205020404"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p>
          <a:p>
            <a:r>
              <a:rPr lang="en-US" altLang="en-US" dirty="0"/>
              <a:t>For example:</a:t>
            </a:r>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p>
          <a:p>
            <a:pPr lvl="1"/>
            <a:r>
              <a:rPr lang="en-US" altLang="en-US" dirty="0"/>
              <a:t>The Command:</a:t>
            </a:r>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50" y="1233488"/>
            <a:ext cx="8229600" cy="5329237"/>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006699"/>
                </a:solidFill>
                <a:latin typeface="+mj-lt"/>
              </a:rPr>
              <a:t>busy waiting</a:t>
            </a:r>
          </a:p>
          <a:p>
            <a:pPr lvl="1">
              <a:lnSpc>
                <a:spcPct val="90000"/>
              </a:lnSpc>
            </a:pPr>
            <a:r>
              <a:rPr lang="en-US" altLang="en-US" dirty="0"/>
              <a:t>This lock therefore called a </a:t>
            </a:r>
            <a:r>
              <a:rPr lang="en-US" altLang="en-US"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6165851" cy="4252911"/>
          </a:xfrm>
        </p:spPr>
        <p:txBody>
          <a:bodyPr/>
          <a:lstStyle/>
          <a:p>
            <a:pPr>
              <a:tabLst>
                <a:tab pos="2001838" algn="ctr"/>
                <a:tab pos="4513263"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a:t>
            </a:r>
          </a:p>
          <a:p>
            <a:pPr>
              <a:tabLst>
                <a:tab pos="2001838" algn="ctr"/>
                <a:tab pos="4513263" algn="ctr"/>
              </a:tabLst>
            </a:pPr>
            <a:r>
              <a:rPr lang="en-US" altLang="en-US" b="1" dirty="0">
                <a:solidFill>
                  <a:srgbClr val="006699"/>
                </a:solidFill>
                <a:latin typeface="+mj-lt"/>
              </a:rPr>
              <a:t>Binary semaphore </a:t>
            </a:r>
            <a:r>
              <a:rPr lang="en-US" altLang="en-US" dirty="0"/>
              <a:t>– integer value can range only between 0 and 1</a:t>
            </a:r>
          </a:p>
          <a:p>
            <a:pPr lvl="1">
              <a:tabLst>
                <a:tab pos="2001838" algn="ctr"/>
                <a:tab pos="4513263"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p>
          <a:p>
            <a:pPr>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838" algn="ctr"/>
                <a:tab pos="4513263" algn="ctr"/>
              </a:tabLst>
            </a:pPr>
            <a:r>
              <a:rPr lang="en-US" altLang="en-US"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6686551"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006699"/>
                </a:solidFill>
                <a:latin typeface="+mj-lt"/>
              </a:rPr>
              <a:t>block </a:t>
            </a:r>
            <a:r>
              <a:rPr lang="en-US" altLang="en-US" dirty="0"/>
              <a:t>– place the process invoking the operation on the appropriate waiting queue</a:t>
            </a:r>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14400" y="228600"/>
            <a:ext cx="8077200" cy="609600"/>
          </a:xfrm>
        </p:spPr>
        <p:txBody>
          <a:bodyPr/>
          <a:lstStyle/>
          <a:p>
            <a:pPr eaLnBrk="1" hangingPunct="1"/>
            <a:r>
              <a:rPr lang="en-US"/>
              <a:t>Classical Problems of Synchronization</a:t>
            </a:r>
          </a:p>
        </p:txBody>
      </p:sp>
      <p:sp>
        <p:nvSpPr>
          <p:cNvPr id="60419" name="Rectangle 3"/>
          <p:cNvSpPr>
            <a:spLocks noGrp="1" noChangeArrowheads="1"/>
          </p:cNvSpPr>
          <p:nvPr>
            <p:ph type="body" idx="1"/>
          </p:nvPr>
        </p:nvSpPr>
        <p:spPr/>
        <p:txBody>
          <a:bodyPr/>
          <a:lstStyle/>
          <a:p>
            <a:r>
              <a:rPr lang="en-US"/>
              <a:t>Bounded-Buffer Problem</a:t>
            </a:r>
          </a:p>
          <a:p>
            <a:endParaRPr lang="en-US"/>
          </a:p>
          <a:p>
            <a:r>
              <a:rPr lang="en-US"/>
              <a:t>Readers and Writers Problem</a:t>
            </a:r>
          </a:p>
          <a:p>
            <a:endParaRPr lang="en-US"/>
          </a:p>
          <a:p>
            <a:r>
              <a:rPr lang="en-US"/>
              <a:t>Dining-Philosophers Problem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279525" y="277813"/>
            <a:ext cx="7407275" cy="576262"/>
          </a:xfrm>
        </p:spPr>
        <p:txBody>
          <a:bodyPr/>
          <a:lstStyle/>
          <a:p>
            <a:pPr eaLnBrk="1" hangingPunct="1"/>
            <a:r>
              <a:rPr lang="en-US"/>
              <a:t>Bounded-Buffer Problem</a:t>
            </a:r>
          </a:p>
        </p:txBody>
      </p:sp>
      <p:sp>
        <p:nvSpPr>
          <p:cNvPr id="62467" name="Rectangle 3"/>
          <p:cNvSpPr>
            <a:spLocks noGrp="1" noChangeArrowheads="1"/>
          </p:cNvSpPr>
          <p:nvPr>
            <p:ph type="body" idx="1"/>
          </p:nvPr>
        </p:nvSpPr>
        <p:spPr>
          <a:xfrm>
            <a:off x="914400" y="1293813"/>
            <a:ext cx="7210425" cy="3725862"/>
          </a:xfrm>
        </p:spPr>
        <p:txBody>
          <a:bodyPr/>
          <a:lstStyle/>
          <a:p>
            <a:r>
              <a:rPr lang="en-US" i="1"/>
              <a:t>N</a:t>
            </a:r>
            <a:r>
              <a:rPr lang="en-US"/>
              <a:t> buffers, each can hold one item</a:t>
            </a:r>
          </a:p>
          <a:p>
            <a:endParaRPr lang="en-US"/>
          </a:p>
          <a:p>
            <a:r>
              <a:rPr lang="en-US"/>
              <a:t>Semaphore </a:t>
            </a:r>
            <a:r>
              <a:rPr lang="en-US">
                <a:solidFill>
                  <a:srgbClr val="FF0000"/>
                </a:solidFill>
              </a:rPr>
              <a:t>mutex</a:t>
            </a:r>
            <a:r>
              <a:rPr lang="en-US"/>
              <a:t> initialized to the value 1</a:t>
            </a:r>
          </a:p>
          <a:p>
            <a:endParaRPr lang="en-US"/>
          </a:p>
          <a:p>
            <a:r>
              <a:rPr lang="en-US"/>
              <a:t>Semaphore </a:t>
            </a:r>
            <a:r>
              <a:rPr lang="en-US">
                <a:solidFill>
                  <a:srgbClr val="FF0000"/>
                </a:solidFill>
              </a:rPr>
              <a:t>full </a:t>
            </a:r>
            <a:r>
              <a:rPr lang="en-US"/>
              <a:t>initialized to the value 0</a:t>
            </a:r>
          </a:p>
          <a:p>
            <a:endParaRPr lang="en-US"/>
          </a:p>
          <a:p>
            <a:r>
              <a:rPr lang="en-US"/>
              <a:t>Semaphore </a:t>
            </a:r>
            <a:r>
              <a:rPr lang="en-US">
                <a:solidFill>
                  <a:srgbClr val="FF0000"/>
                </a:solidFill>
              </a:rPr>
              <a:t>empty</a:t>
            </a:r>
            <a:r>
              <a:rPr lang="en-US"/>
              <a:t> initialized to the value N.</a:t>
            </a:r>
          </a:p>
          <a:p>
            <a:endParaRPr lang="en-US"/>
          </a:p>
        </p:txBody>
      </p:sp>
      <p:sp>
        <p:nvSpPr>
          <p:cNvPr id="62468" name="Rectangle 5"/>
          <p:cNvSpPr>
            <a:spLocks noChangeArrowheads="1"/>
          </p:cNvSpPr>
          <p:nvPr/>
        </p:nvSpPr>
        <p:spPr bwMode="auto">
          <a:xfrm>
            <a:off x="2492375" y="3246438"/>
            <a:ext cx="184150" cy="366712"/>
          </a:xfrm>
          <a:prstGeom prst="rect">
            <a:avLst/>
          </a:prstGeom>
          <a:noFill/>
          <a:ln w="9525">
            <a:noFill/>
            <a:miter lim="800000"/>
            <a:headEnd/>
            <a:tailEnd/>
          </a:ln>
        </p:spPr>
        <p:txBody>
          <a:bodyPr wrap="none">
            <a:spAutoFit/>
          </a:bodyPr>
          <a:lstStyle/>
          <a:p>
            <a:endParaRPr kumimoji="1" lang="es-ES">
              <a:latin typeface="Helvetica"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111250" y="277813"/>
            <a:ext cx="7575550" cy="576262"/>
          </a:xfrm>
        </p:spPr>
        <p:txBody>
          <a:bodyPr/>
          <a:lstStyle/>
          <a:p>
            <a:pPr eaLnBrk="1" hangingPunct="1"/>
            <a:r>
              <a:rPr lang="en-US"/>
              <a:t>Bounded Buffer Problem (Cont.)</a:t>
            </a:r>
          </a:p>
        </p:txBody>
      </p:sp>
      <p:sp>
        <p:nvSpPr>
          <p:cNvPr id="64515" name="Rectangle 3"/>
          <p:cNvSpPr>
            <a:spLocks noGrp="1" noChangeArrowheads="1"/>
          </p:cNvSpPr>
          <p:nvPr>
            <p:ph type="body" idx="1"/>
          </p:nvPr>
        </p:nvSpPr>
        <p:spPr>
          <a:xfrm>
            <a:off x="827088" y="1279525"/>
            <a:ext cx="7848600" cy="4876800"/>
          </a:xfrm>
        </p:spPr>
        <p:txBody>
          <a:bodyPr/>
          <a:lstStyle/>
          <a:p>
            <a:r>
              <a:rPr lang="en-US" sz="1600"/>
              <a:t>The structure of the producer process</a:t>
            </a:r>
          </a:p>
          <a:p>
            <a:pPr>
              <a:buFont typeface="Monotype Sorts" charset="2"/>
              <a:buNone/>
            </a:pPr>
            <a:endParaRPr lang="en-US" sz="1600"/>
          </a:p>
          <a:p>
            <a:pPr>
              <a:buFont typeface="Monotype Sorts" charset="2"/>
              <a:buNone/>
            </a:pPr>
            <a:r>
              <a:rPr lang="en-US" sz="1600">
                <a:solidFill>
                  <a:srgbClr val="0000FF"/>
                </a:solidFill>
              </a:rPr>
              <a:t>	do  {</a:t>
            </a:r>
            <a:br>
              <a:rPr lang="en-US" sz="1600">
                <a:solidFill>
                  <a:srgbClr val="0000FF"/>
                </a:solidFill>
              </a:rPr>
            </a:br>
            <a:endParaRPr lang="en-US" sz="1600">
              <a:solidFill>
                <a:srgbClr val="0000FF"/>
              </a:solidFill>
            </a:endParaRPr>
          </a:p>
          <a:p>
            <a:pPr>
              <a:buFont typeface="Monotype Sorts" charset="2"/>
              <a:buNone/>
            </a:pPr>
            <a:r>
              <a:rPr lang="en-US" sz="1600">
                <a:solidFill>
                  <a:srgbClr val="0000FF"/>
                </a:solidFill>
              </a:rPr>
              <a:t>                         //   produce an item in nextp</a:t>
            </a:r>
          </a:p>
          <a:p>
            <a:pPr>
              <a:buFont typeface="Monotype Sorts" charset="2"/>
              <a:buNone/>
            </a:pPr>
            <a:endParaRPr lang="en-US" sz="1600">
              <a:solidFill>
                <a:srgbClr val="0000FF"/>
              </a:solidFill>
            </a:endParaRPr>
          </a:p>
          <a:p>
            <a:pPr>
              <a:buFont typeface="Monotype Sorts" charset="2"/>
              <a:buNone/>
            </a:pPr>
            <a:r>
              <a:rPr lang="en-US" sz="1600">
                <a:solidFill>
                  <a:srgbClr val="0000FF"/>
                </a:solidFill>
              </a:rPr>
              <a:t>                   wait (empty);</a:t>
            </a:r>
          </a:p>
          <a:p>
            <a:pPr>
              <a:buFont typeface="Monotype Sorts" charset="2"/>
              <a:buNone/>
            </a:pPr>
            <a:r>
              <a:rPr lang="en-US" sz="1600">
                <a:solidFill>
                  <a:srgbClr val="0000FF"/>
                </a:solidFill>
              </a:rPr>
              <a:t>                   wait (mutex);</a:t>
            </a:r>
          </a:p>
          <a:p>
            <a:pPr>
              <a:buFont typeface="Monotype Sorts" charset="2"/>
              <a:buNone/>
            </a:pPr>
            <a:endParaRPr lang="en-US" sz="1600">
              <a:solidFill>
                <a:srgbClr val="0000FF"/>
              </a:solidFill>
            </a:endParaRPr>
          </a:p>
          <a:p>
            <a:pPr>
              <a:buFont typeface="Monotype Sorts" charset="2"/>
              <a:buNone/>
            </a:pPr>
            <a:r>
              <a:rPr lang="en-US" sz="1600">
                <a:solidFill>
                  <a:srgbClr val="0000FF"/>
                </a:solidFill>
              </a:rPr>
              <a:t>                         //  add the item to the  buffer</a:t>
            </a:r>
          </a:p>
          <a:p>
            <a:pPr>
              <a:buFont typeface="Monotype Sorts" charset="2"/>
              <a:buNone/>
            </a:pPr>
            <a:endParaRPr lang="en-US" sz="1600">
              <a:solidFill>
                <a:srgbClr val="0000FF"/>
              </a:solidFill>
            </a:endParaRPr>
          </a:p>
          <a:p>
            <a:pPr>
              <a:buFont typeface="Monotype Sorts" charset="2"/>
              <a:buNone/>
            </a:pPr>
            <a:r>
              <a:rPr lang="en-US" sz="1600">
                <a:solidFill>
                  <a:srgbClr val="0000FF"/>
                </a:solidFill>
              </a:rPr>
              <a:t>                    signal (mutex);</a:t>
            </a:r>
          </a:p>
          <a:p>
            <a:pPr>
              <a:buFont typeface="Monotype Sorts" charset="2"/>
              <a:buNone/>
            </a:pPr>
            <a:r>
              <a:rPr lang="en-US" sz="1600">
                <a:solidFill>
                  <a:srgbClr val="0000FF"/>
                </a:solidFill>
              </a:rPr>
              <a:t>                    signal (full);</a:t>
            </a:r>
          </a:p>
          <a:p>
            <a:pPr>
              <a:buFont typeface="Monotype Sorts" charset="2"/>
              <a:buNone/>
            </a:pPr>
            <a:r>
              <a:rPr lang="en-US" sz="1600">
                <a:solidFill>
                  <a:srgbClr val="0000FF"/>
                </a:solidFill>
              </a:rPr>
              <a:t>           } while (TRUE);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306513" y="277813"/>
            <a:ext cx="7156450" cy="576262"/>
          </a:xfrm>
        </p:spPr>
        <p:txBody>
          <a:bodyPr/>
          <a:lstStyle/>
          <a:p>
            <a:pPr eaLnBrk="1" hangingPunct="1"/>
            <a:r>
              <a:rPr lang="en-US"/>
              <a:t>Bounded Buffer Problem (Cont.)</a:t>
            </a:r>
          </a:p>
        </p:txBody>
      </p:sp>
      <p:sp>
        <p:nvSpPr>
          <p:cNvPr id="66563" name="Rectangle 3"/>
          <p:cNvSpPr>
            <a:spLocks noGrp="1" noChangeArrowheads="1"/>
          </p:cNvSpPr>
          <p:nvPr>
            <p:ph type="body" idx="1"/>
          </p:nvPr>
        </p:nvSpPr>
        <p:spPr>
          <a:xfrm>
            <a:off x="827088" y="1279525"/>
            <a:ext cx="7848600" cy="4876800"/>
          </a:xfrm>
        </p:spPr>
        <p:txBody>
          <a:bodyPr/>
          <a:lstStyle/>
          <a:p>
            <a:r>
              <a:rPr lang="en-US" sz="1600"/>
              <a:t>The structure of the consumer process</a:t>
            </a:r>
          </a:p>
          <a:p>
            <a:pPr>
              <a:buFont typeface="Monotype Sorts" charset="2"/>
              <a:buNone/>
            </a:pPr>
            <a:endParaRPr lang="en-US" sz="1600"/>
          </a:p>
          <a:p>
            <a:pPr>
              <a:buFont typeface="Monotype Sorts" charset="2"/>
              <a:buNone/>
            </a:pPr>
            <a:r>
              <a:rPr lang="en-US" sz="1600">
                <a:solidFill>
                  <a:srgbClr val="0000FF"/>
                </a:solidFill>
              </a:rPr>
              <a:t>           do {</a:t>
            </a:r>
          </a:p>
          <a:p>
            <a:pPr>
              <a:buFont typeface="Monotype Sorts" charset="2"/>
              <a:buNone/>
            </a:pPr>
            <a:r>
              <a:rPr lang="en-US" sz="1600">
                <a:solidFill>
                  <a:srgbClr val="0000FF"/>
                </a:solidFill>
              </a:rPr>
              <a:t>                    wait (full);</a:t>
            </a:r>
          </a:p>
          <a:p>
            <a:pPr>
              <a:buFont typeface="Monotype Sorts" charset="2"/>
              <a:buNone/>
            </a:pPr>
            <a:r>
              <a:rPr lang="en-US" sz="1600">
                <a:solidFill>
                  <a:srgbClr val="0000FF"/>
                </a:solidFill>
              </a:rPr>
              <a:t>                    wait (mutex);</a:t>
            </a:r>
          </a:p>
          <a:p>
            <a:pPr>
              <a:buFont typeface="Monotype Sorts" charset="2"/>
              <a:buNone/>
            </a:pPr>
            <a:endParaRPr lang="en-US" sz="1600">
              <a:solidFill>
                <a:srgbClr val="0000FF"/>
              </a:solidFill>
            </a:endParaRPr>
          </a:p>
          <a:p>
            <a:pPr>
              <a:buFont typeface="Monotype Sorts" charset="2"/>
              <a:buNone/>
            </a:pPr>
            <a:r>
              <a:rPr lang="en-US" sz="1600">
                <a:solidFill>
                  <a:srgbClr val="0000FF"/>
                </a:solidFill>
              </a:rPr>
              <a:t>                             //  remove an item from  buffer to nextc</a:t>
            </a:r>
          </a:p>
          <a:p>
            <a:pPr>
              <a:buFont typeface="Monotype Sorts" charset="2"/>
              <a:buNone/>
            </a:pPr>
            <a:endParaRPr lang="en-US" sz="1600">
              <a:solidFill>
                <a:srgbClr val="0000FF"/>
              </a:solidFill>
            </a:endParaRPr>
          </a:p>
          <a:p>
            <a:pPr>
              <a:buFont typeface="Monotype Sorts" charset="2"/>
              <a:buNone/>
            </a:pPr>
            <a:r>
              <a:rPr lang="en-US" sz="1600">
                <a:solidFill>
                  <a:srgbClr val="0000FF"/>
                </a:solidFill>
              </a:rPr>
              <a:t>                    signal (mutex);</a:t>
            </a:r>
          </a:p>
          <a:p>
            <a:pPr>
              <a:buFont typeface="Monotype Sorts" charset="2"/>
              <a:buNone/>
            </a:pPr>
            <a:r>
              <a:rPr lang="en-US" sz="1600">
                <a:solidFill>
                  <a:srgbClr val="0000FF"/>
                </a:solidFill>
              </a:rPr>
              <a:t>                    signal (empty);</a:t>
            </a:r>
          </a:p>
          <a:p>
            <a:pPr>
              <a:buFont typeface="Monotype Sorts" charset="2"/>
              <a:buNone/>
            </a:pPr>
            <a:r>
              <a:rPr lang="en-US" sz="1600">
                <a:solidFill>
                  <a:srgbClr val="0000FF"/>
                </a:solidFill>
              </a:rPr>
              <a:t>             </a:t>
            </a:r>
          </a:p>
          <a:p>
            <a:pPr>
              <a:buFont typeface="Monotype Sorts" charset="2"/>
              <a:buNone/>
            </a:pPr>
            <a:r>
              <a:rPr lang="en-US" sz="1600">
                <a:solidFill>
                  <a:srgbClr val="0000FF"/>
                </a:solidFill>
              </a:rPr>
              <a:t>                            //  consume the item in nextc</a:t>
            </a:r>
          </a:p>
          <a:p>
            <a:pPr>
              <a:buFont typeface="Monotype Sorts" charset="2"/>
              <a:buNone/>
            </a:pPr>
            <a:endParaRPr lang="en-US" sz="1600">
              <a:solidFill>
                <a:srgbClr val="0000FF"/>
              </a:solidFill>
            </a:endParaRPr>
          </a:p>
          <a:p>
            <a:pPr>
              <a:buFont typeface="Monotype Sorts" charset="2"/>
              <a:buNone/>
            </a:pPr>
            <a:r>
              <a:rPr lang="en-US" sz="1600">
                <a:solidFill>
                  <a:srgbClr val="0000FF"/>
                </a:solidFill>
              </a:rPr>
              <a:t>           } while (TRUE);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120775" y="277813"/>
            <a:ext cx="7566025" cy="576262"/>
          </a:xfrm>
        </p:spPr>
        <p:txBody>
          <a:bodyPr/>
          <a:lstStyle/>
          <a:p>
            <a:pPr eaLnBrk="1" hangingPunct="1"/>
            <a:r>
              <a:rPr lang="en-US"/>
              <a:t>Readers-Writers Problem</a:t>
            </a:r>
          </a:p>
        </p:txBody>
      </p:sp>
      <p:sp>
        <p:nvSpPr>
          <p:cNvPr id="68611" name="Rectangle 3"/>
          <p:cNvSpPr>
            <a:spLocks noGrp="1" noChangeArrowheads="1"/>
          </p:cNvSpPr>
          <p:nvPr>
            <p:ph type="body" idx="1"/>
          </p:nvPr>
        </p:nvSpPr>
        <p:spPr>
          <a:xfrm>
            <a:off x="827088" y="1279525"/>
            <a:ext cx="7664450" cy="4759325"/>
          </a:xfrm>
        </p:spPr>
        <p:txBody>
          <a:bodyPr/>
          <a:lstStyle/>
          <a:p>
            <a:r>
              <a:rPr lang="en-US"/>
              <a:t>A data set is shared among a number of concurrent processes.</a:t>
            </a:r>
          </a:p>
          <a:p>
            <a:pPr lvl="1"/>
            <a:r>
              <a:rPr lang="en-US"/>
              <a:t>Readers – only read the data set; they do </a:t>
            </a:r>
            <a:r>
              <a:rPr lang="en-US" b="1"/>
              <a:t>not </a:t>
            </a:r>
            <a:r>
              <a:rPr lang="en-US"/>
              <a:t>perform any updates</a:t>
            </a:r>
          </a:p>
          <a:p>
            <a:pPr lvl="1"/>
            <a:r>
              <a:rPr lang="en-US"/>
              <a:t>Writers   – can both read and write</a:t>
            </a:r>
            <a:br>
              <a:rPr lang="en-US"/>
            </a:br>
            <a:endParaRPr lang="en-US"/>
          </a:p>
          <a:p>
            <a:r>
              <a:rPr lang="en-US"/>
              <a:t>Problem – allow multiple readers to read at the same time.  Only one single writer can access the shared data at the same time.</a:t>
            </a:r>
          </a:p>
          <a:p>
            <a:endParaRPr lang="en-US"/>
          </a:p>
          <a:p>
            <a:r>
              <a:rPr lang="en-US"/>
              <a:t>Shared Data</a:t>
            </a:r>
          </a:p>
          <a:p>
            <a:pPr lvl="1"/>
            <a:r>
              <a:rPr lang="en-US"/>
              <a:t>Data set</a:t>
            </a:r>
          </a:p>
          <a:p>
            <a:pPr lvl="1"/>
            <a:r>
              <a:rPr lang="en-US"/>
              <a:t>Semaphore </a:t>
            </a:r>
            <a:r>
              <a:rPr lang="en-US">
                <a:solidFill>
                  <a:srgbClr val="FF0000"/>
                </a:solidFill>
              </a:rPr>
              <a:t>mutex</a:t>
            </a:r>
            <a:r>
              <a:rPr lang="en-US"/>
              <a:t> initialized to 1</a:t>
            </a:r>
          </a:p>
          <a:p>
            <a:pPr lvl="1"/>
            <a:r>
              <a:rPr lang="en-US"/>
              <a:t>Semaphore </a:t>
            </a:r>
            <a:r>
              <a:rPr lang="en-US">
                <a:solidFill>
                  <a:srgbClr val="FF0000"/>
                </a:solidFill>
              </a:rPr>
              <a:t>wrt</a:t>
            </a:r>
            <a:r>
              <a:rPr lang="en-US"/>
              <a:t> initialized to 1</a:t>
            </a:r>
          </a:p>
          <a:p>
            <a:pPr lvl="1"/>
            <a:r>
              <a:rPr lang="en-US"/>
              <a:t>Integer </a:t>
            </a:r>
            <a:r>
              <a:rPr lang="en-US">
                <a:solidFill>
                  <a:srgbClr val="FF0000"/>
                </a:solidFill>
              </a:rPr>
              <a:t>readcount</a:t>
            </a:r>
            <a:r>
              <a:rPr lang="en-US"/>
              <a:t> initialized to 0</a:t>
            </a:r>
          </a:p>
          <a:p>
            <a:pPr lvl="1"/>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025525" y="277813"/>
            <a:ext cx="7661275" cy="576262"/>
          </a:xfrm>
        </p:spPr>
        <p:txBody>
          <a:bodyPr/>
          <a:lstStyle/>
          <a:p>
            <a:pPr eaLnBrk="1" hangingPunct="1"/>
            <a:r>
              <a:rPr lang="en-US"/>
              <a:t>Readers-Writers Problem (Cont.)</a:t>
            </a:r>
          </a:p>
        </p:txBody>
      </p:sp>
      <p:sp>
        <p:nvSpPr>
          <p:cNvPr id="70659" name="Rectangle 3"/>
          <p:cNvSpPr>
            <a:spLocks noGrp="1" noChangeArrowheads="1"/>
          </p:cNvSpPr>
          <p:nvPr>
            <p:ph type="body" idx="1"/>
          </p:nvPr>
        </p:nvSpPr>
        <p:spPr>
          <a:xfrm>
            <a:off x="827088" y="1279525"/>
            <a:ext cx="7848600" cy="4876800"/>
          </a:xfrm>
        </p:spPr>
        <p:txBody>
          <a:bodyPr/>
          <a:lstStyle/>
          <a:p>
            <a:r>
              <a:rPr lang="en-US"/>
              <a:t>The structure of a writer process</a:t>
            </a:r>
          </a:p>
          <a:p>
            <a:pPr>
              <a:buFont typeface="Monotype Sorts" charset="2"/>
              <a:buNone/>
            </a:pPr>
            <a:r>
              <a:rPr lang="en-US">
                <a:solidFill>
                  <a:srgbClr val="0000FF"/>
                </a:solidFill>
              </a:rPr>
              <a:t>        </a:t>
            </a:r>
          </a:p>
          <a:p>
            <a:pPr>
              <a:buFont typeface="Monotype Sorts" charset="2"/>
              <a:buNone/>
            </a:pPr>
            <a:r>
              <a:rPr lang="en-US">
                <a:solidFill>
                  <a:srgbClr val="0000FF"/>
                </a:solidFill>
              </a:rPr>
              <a:t>              do {</a:t>
            </a:r>
          </a:p>
          <a:p>
            <a:pPr>
              <a:buFont typeface="Monotype Sorts" charset="2"/>
              <a:buNone/>
            </a:pPr>
            <a:r>
              <a:rPr lang="en-US">
                <a:solidFill>
                  <a:srgbClr val="0000FF"/>
                </a:solidFill>
              </a:rPr>
              <a:t>                        wait (wrt) ;</a:t>
            </a:r>
          </a:p>
          <a:p>
            <a:pPr>
              <a:buFont typeface="Monotype Sorts" charset="2"/>
              <a:buNone/>
            </a:pPr>
            <a:r>
              <a:rPr lang="en-US">
                <a:solidFill>
                  <a:srgbClr val="0000FF"/>
                </a:solidFill>
              </a:rPr>
              <a:t>                </a:t>
            </a:r>
          </a:p>
          <a:p>
            <a:pPr>
              <a:buFont typeface="Monotype Sorts" charset="2"/>
              <a:buNone/>
            </a:pPr>
            <a:r>
              <a:rPr lang="en-US">
                <a:solidFill>
                  <a:srgbClr val="0000FF"/>
                </a:solidFill>
              </a:rPr>
              <a:t>                             //    writing is performed</a:t>
            </a:r>
          </a:p>
          <a:p>
            <a:pPr>
              <a:buFont typeface="Monotype Sorts" charset="2"/>
              <a:buNone/>
            </a:pPr>
            <a:endParaRPr lang="en-US">
              <a:solidFill>
                <a:srgbClr val="0000FF"/>
              </a:solidFill>
            </a:endParaRPr>
          </a:p>
          <a:p>
            <a:pPr>
              <a:buFont typeface="Monotype Sorts" charset="2"/>
              <a:buNone/>
            </a:pPr>
            <a:r>
              <a:rPr lang="en-US">
                <a:solidFill>
                  <a:srgbClr val="0000FF"/>
                </a:solidFill>
              </a:rPr>
              <a:t>                        signal (wrt) ;</a:t>
            </a:r>
          </a:p>
          <a:p>
            <a:pPr>
              <a:buFont typeface="Monotype Sorts" charset="2"/>
              <a:buNone/>
            </a:pPr>
            <a:r>
              <a:rPr lang="en-US">
                <a:solidFill>
                  <a:srgbClr val="0000FF"/>
                </a:solidFill>
              </a:rPr>
              <a:t>             } while (TRUE);</a:t>
            </a:r>
          </a:p>
          <a:p>
            <a:pPr>
              <a:buFont typeface="Monotype Sorts" charset="2"/>
              <a:buNone/>
            </a:pPr>
            <a:endParaRPr lang="en-US">
              <a:solidFill>
                <a:srgbClr val="0000FF"/>
              </a:solidFill>
            </a:endParaRPr>
          </a:p>
          <a:p>
            <a:pPr>
              <a:buFont typeface="Monotype Sorts" charset="2"/>
              <a:buNone/>
            </a:pPr>
            <a:endParaRPr lang="en-US">
              <a:solidFill>
                <a:srgbClr val="0000FF"/>
              </a:solidFill>
            </a:endParaRPr>
          </a:p>
          <a:p>
            <a:pPr>
              <a:buFont typeface="Monotype Sorts" charset="2"/>
              <a:buNone/>
            </a:pPr>
            <a:r>
              <a:rPr lang="en-US">
                <a:solidFill>
                  <a:srgbClr val="0000FF"/>
                </a:solidFill>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035050" y="277813"/>
            <a:ext cx="7651750" cy="576262"/>
          </a:xfrm>
        </p:spPr>
        <p:txBody>
          <a:bodyPr/>
          <a:lstStyle/>
          <a:p>
            <a:pPr eaLnBrk="1" hangingPunct="1"/>
            <a:r>
              <a:rPr lang="en-US"/>
              <a:t>Readers-Writers Problem (Cont.)</a:t>
            </a:r>
          </a:p>
        </p:txBody>
      </p:sp>
      <p:sp>
        <p:nvSpPr>
          <p:cNvPr id="72707" name="Rectangle 3"/>
          <p:cNvSpPr>
            <a:spLocks noGrp="1" noChangeArrowheads="1"/>
          </p:cNvSpPr>
          <p:nvPr>
            <p:ph type="body" idx="1"/>
          </p:nvPr>
        </p:nvSpPr>
        <p:spPr>
          <a:xfrm>
            <a:off x="827088" y="1279525"/>
            <a:ext cx="7747000" cy="5065713"/>
          </a:xfrm>
        </p:spPr>
        <p:txBody>
          <a:bodyPr/>
          <a:lstStyle/>
          <a:p>
            <a:pPr>
              <a:lnSpc>
                <a:spcPct val="80000"/>
              </a:lnSpc>
            </a:pPr>
            <a:r>
              <a:rPr lang="en-US" sz="1600"/>
              <a:t>The structure of a reader process</a:t>
            </a:r>
          </a:p>
          <a:p>
            <a:pPr>
              <a:lnSpc>
                <a:spcPct val="80000"/>
              </a:lnSpc>
              <a:buFont typeface="Monotype Sorts" charset="2"/>
              <a:buNone/>
            </a:pPr>
            <a:r>
              <a:rPr lang="en-US" sz="1600">
                <a:solidFill>
                  <a:srgbClr val="0000FF"/>
                </a:solidFill>
              </a:rPr>
              <a:t>        </a:t>
            </a:r>
          </a:p>
          <a:p>
            <a:pPr>
              <a:lnSpc>
                <a:spcPct val="80000"/>
              </a:lnSpc>
              <a:buFont typeface="Monotype Sorts" charset="2"/>
              <a:buNone/>
            </a:pPr>
            <a:r>
              <a:rPr lang="en-US" sz="1600">
                <a:solidFill>
                  <a:srgbClr val="0000FF"/>
                </a:solidFill>
              </a:rPr>
              <a:t>	do {</a:t>
            </a:r>
          </a:p>
          <a:p>
            <a:pPr>
              <a:lnSpc>
                <a:spcPct val="80000"/>
              </a:lnSpc>
              <a:buFont typeface="Monotype Sorts" charset="2"/>
              <a:buNone/>
            </a:pPr>
            <a:r>
              <a:rPr lang="en-US" sz="1600">
                <a:solidFill>
                  <a:srgbClr val="0000FF"/>
                </a:solidFill>
              </a:rPr>
              <a:t>                       wait (mutex) ;</a:t>
            </a:r>
          </a:p>
          <a:p>
            <a:pPr>
              <a:lnSpc>
                <a:spcPct val="80000"/>
              </a:lnSpc>
              <a:buFont typeface="Monotype Sorts" charset="2"/>
              <a:buNone/>
            </a:pPr>
            <a:r>
              <a:rPr lang="en-US" sz="1600">
                <a:solidFill>
                  <a:srgbClr val="0000FF"/>
                </a:solidFill>
              </a:rPr>
              <a:t>                       readcount ++ ;</a:t>
            </a:r>
          </a:p>
          <a:p>
            <a:pPr>
              <a:lnSpc>
                <a:spcPct val="80000"/>
              </a:lnSpc>
              <a:buFont typeface="Monotype Sorts" charset="2"/>
              <a:buNone/>
            </a:pPr>
            <a:r>
              <a:rPr lang="en-US" sz="1600">
                <a:solidFill>
                  <a:srgbClr val="0000FF"/>
                </a:solidFill>
              </a:rPr>
              <a:t>                       if (readcount == 1)  </a:t>
            </a:r>
          </a:p>
          <a:p>
            <a:pPr>
              <a:lnSpc>
                <a:spcPct val="80000"/>
              </a:lnSpc>
              <a:buFont typeface="Monotype Sorts" charset="2"/>
              <a:buNone/>
            </a:pPr>
            <a:r>
              <a:rPr lang="en-US" sz="1600">
                <a:solidFill>
                  <a:srgbClr val="0000FF"/>
                </a:solidFill>
              </a:rPr>
              <a:t>			          wait (wrt) ;</a:t>
            </a:r>
          </a:p>
          <a:p>
            <a:pPr>
              <a:lnSpc>
                <a:spcPct val="80000"/>
              </a:lnSpc>
              <a:buFont typeface="Monotype Sorts" charset="2"/>
              <a:buNone/>
            </a:pPr>
            <a:r>
              <a:rPr lang="en-US" sz="1600">
                <a:solidFill>
                  <a:srgbClr val="0000FF"/>
                </a:solidFill>
              </a:rPr>
              <a:t>                       signal (mutex)</a:t>
            </a:r>
          </a:p>
          <a:p>
            <a:pPr>
              <a:lnSpc>
                <a:spcPct val="80000"/>
              </a:lnSpc>
              <a:buFont typeface="Monotype Sorts" charset="2"/>
              <a:buNone/>
            </a:pPr>
            <a:r>
              <a:rPr lang="en-US" sz="1600">
                <a:solidFill>
                  <a:srgbClr val="0000FF"/>
                </a:solidFill>
              </a:rPr>
              <a:t>                </a:t>
            </a:r>
          </a:p>
          <a:p>
            <a:pPr>
              <a:lnSpc>
                <a:spcPct val="80000"/>
              </a:lnSpc>
              <a:buFont typeface="Monotype Sorts" charset="2"/>
              <a:buNone/>
            </a:pPr>
            <a:r>
              <a:rPr lang="en-US" sz="1600">
                <a:solidFill>
                  <a:srgbClr val="0000FF"/>
                </a:solidFill>
              </a:rPr>
              <a:t>                               // reading is performed</a:t>
            </a:r>
          </a:p>
          <a:p>
            <a:pPr>
              <a:lnSpc>
                <a:spcPct val="80000"/>
              </a:lnSpc>
              <a:buFont typeface="Monotype Sorts" charset="2"/>
              <a:buNone/>
            </a:pPr>
            <a:endParaRPr lang="en-US" sz="1600">
              <a:solidFill>
                <a:srgbClr val="0000FF"/>
              </a:solidFill>
            </a:endParaRPr>
          </a:p>
          <a:p>
            <a:pPr>
              <a:lnSpc>
                <a:spcPct val="80000"/>
              </a:lnSpc>
              <a:buFont typeface="Monotype Sorts" charset="2"/>
              <a:buNone/>
            </a:pPr>
            <a:r>
              <a:rPr lang="en-US" sz="1600">
                <a:solidFill>
                  <a:srgbClr val="0000FF"/>
                </a:solidFill>
              </a:rPr>
              <a:t>                        wait (mutex) ;</a:t>
            </a:r>
          </a:p>
          <a:p>
            <a:pPr>
              <a:lnSpc>
                <a:spcPct val="80000"/>
              </a:lnSpc>
              <a:buFont typeface="Monotype Sorts" charset="2"/>
              <a:buNone/>
            </a:pPr>
            <a:r>
              <a:rPr lang="en-US" sz="1600">
                <a:solidFill>
                  <a:srgbClr val="0000FF"/>
                </a:solidFill>
              </a:rPr>
              <a:t>                        readcount  - - ;</a:t>
            </a:r>
          </a:p>
          <a:p>
            <a:pPr>
              <a:lnSpc>
                <a:spcPct val="80000"/>
              </a:lnSpc>
              <a:buFont typeface="Monotype Sorts" charset="2"/>
              <a:buNone/>
            </a:pPr>
            <a:r>
              <a:rPr lang="en-US" sz="1600">
                <a:solidFill>
                  <a:srgbClr val="0000FF"/>
                </a:solidFill>
              </a:rPr>
              <a:t>                        if (readcount  == 0)  </a:t>
            </a:r>
          </a:p>
          <a:p>
            <a:pPr>
              <a:lnSpc>
                <a:spcPct val="80000"/>
              </a:lnSpc>
              <a:buFont typeface="Monotype Sorts" charset="2"/>
              <a:buNone/>
            </a:pPr>
            <a:r>
              <a:rPr lang="en-US" sz="1600">
                <a:solidFill>
                  <a:srgbClr val="0000FF"/>
                </a:solidFill>
              </a:rPr>
              <a:t>			         signal (wrt) ;</a:t>
            </a:r>
          </a:p>
          <a:p>
            <a:pPr>
              <a:lnSpc>
                <a:spcPct val="80000"/>
              </a:lnSpc>
              <a:buFont typeface="Monotype Sorts" charset="2"/>
              <a:buNone/>
            </a:pPr>
            <a:r>
              <a:rPr lang="en-US" sz="1600">
                <a:solidFill>
                  <a:srgbClr val="0000FF"/>
                </a:solidFill>
              </a:rPr>
              <a:t>                        signal (mutex) ;</a:t>
            </a:r>
          </a:p>
          <a:p>
            <a:pPr>
              <a:lnSpc>
                <a:spcPct val="80000"/>
              </a:lnSpc>
              <a:buFont typeface="Monotype Sorts" charset="2"/>
              <a:buNone/>
            </a:pPr>
            <a:r>
              <a:rPr lang="en-US" sz="1600">
                <a:solidFill>
                  <a:srgbClr val="0000FF"/>
                </a:solidFill>
              </a:rPr>
              <a:t>              } while (TRUE);</a:t>
            </a:r>
          </a:p>
          <a:p>
            <a:pPr>
              <a:lnSpc>
                <a:spcPct val="80000"/>
              </a:lnSpc>
              <a:buFont typeface="Monotype Sorts" charset="2"/>
              <a:buNone/>
            </a:pPr>
            <a:endParaRPr lang="en-US" sz="1600">
              <a:solidFill>
                <a:srgbClr val="0000FF"/>
              </a:solidFill>
            </a:endParaRPr>
          </a:p>
          <a:p>
            <a:pPr>
              <a:lnSpc>
                <a:spcPct val="80000"/>
              </a:lnSpc>
              <a:buFont typeface="Monotype Sorts" charset="2"/>
              <a:buNone/>
            </a:pPr>
            <a:endParaRPr lang="en-US" sz="1600">
              <a:solidFill>
                <a:srgbClr val="0000FF"/>
              </a:solidFill>
            </a:endParaRPr>
          </a:p>
          <a:p>
            <a:pPr>
              <a:lnSpc>
                <a:spcPct val="80000"/>
              </a:lnSpc>
              <a:buFont typeface="Monotype Sorts" charset="2"/>
              <a:buNone/>
            </a:pPr>
            <a:r>
              <a:rPr lang="en-US" sz="1600">
                <a:solidFill>
                  <a:srgbClr val="0000FF"/>
                </a:solidFill>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016000" y="277813"/>
            <a:ext cx="7670800" cy="576262"/>
          </a:xfrm>
        </p:spPr>
        <p:txBody>
          <a:bodyPr/>
          <a:lstStyle/>
          <a:p>
            <a:pPr eaLnBrk="1" hangingPunct="1"/>
            <a:r>
              <a:rPr lang="en-US"/>
              <a:t>Dining-Philosophers Problem</a:t>
            </a:r>
          </a:p>
        </p:txBody>
      </p:sp>
      <p:sp>
        <p:nvSpPr>
          <p:cNvPr id="74755" name="Rectangle 3"/>
          <p:cNvSpPr>
            <a:spLocks noGrp="1" noChangeArrowheads="1"/>
          </p:cNvSpPr>
          <p:nvPr>
            <p:ph type="body" idx="1"/>
          </p:nvPr>
        </p:nvSpPr>
        <p:spPr>
          <a:xfrm>
            <a:off x="914400" y="4876800"/>
            <a:ext cx="7029450" cy="1247775"/>
          </a:xfrm>
        </p:spPr>
        <p:txBody>
          <a:bodyPr/>
          <a:lstStyle/>
          <a:p>
            <a:pPr>
              <a:tabLst>
                <a:tab pos="1370013" algn="l"/>
                <a:tab pos="1541463" algn="l"/>
              </a:tabLst>
            </a:pPr>
            <a:r>
              <a:rPr lang="en-US"/>
              <a:t>Shared data </a:t>
            </a:r>
          </a:p>
          <a:p>
            <a:pPr lvl="1">
              <a:tabLst>
                <a:tab pos="1370013" algn="l"/>
                <a:tab pos="1541463" algn="l"/>
              </a:tabLst>
            </a:pPr>
            <a:r>
              <a:rPr lang="en-US"/>
              <a:t>Bowl of rice (data set)</a:t>
            </a:r>
          </a:p>
          <a:p>
            <a:pPr lvl="1">
              <a:tabLst>
                <a:tab pos="1370013" algn="l"/>
                <a:tab pos="1541463" algn="l"/>
              </a:tabLst>
            </a:pPr>
            <a:r>
              <a:rPr lang="en-US" sz="1600"/>
              <a:t>Semaphore </a:t>
            </a:r>
            <a:r>
              <a:rPr lang="en-US" sz="1600">
                <a:solidFill>
                  <a:srgbClr val="FF0000"/>
                </a:solidFill>
              </a:rPr>
              <a:t>chopstick [5]</a:t>
            </a:r>
            <a:r>
              <a:rPr lang="en-US" sz="1600"/>
              <a:t> initialized to 1</a:t>
            </a:r>
          </a:p>
        </p:txBody>
      </p:sp>
      <p:pic>
        <p:nvPicPr>
          <p:cNvPr id="74757" name="Picture 5" descr="6"/>
          <p:cNvPicPr>
            <a:picLocks noChangeAspect="1" noChangeArrowheads="1"/>
          </p:cNvPicPr>
          <p:nvPr/>
        </p:nvPicPr>
        <p:blipFill>
          <a:blip r:embed="rId3"/>
          <a:srcRect/>
          <a:stretch>
            <a:fillRect/>
          </a:stretch>
        </p:blipFill>
        <p:spPr bwMode="auto">
          <a:xfrm>
            <a:off x="2843213" y="1227138"/>
            <a:ext cx="3894137" cy="3741737"/>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20738" y="277813"/>
            <a:ext cx="7866062" cy="576262"/>
          </a:xfrm>
        </p:spPr>
        <p:txBody>
          <a:bodyPr/>
          <a:lstStyle/>
          <a:p>
            <a:pPr eaLnBrk="1" hangingPunct="1"/>
            <a:r>
              <a:rPr lang="en-US"/>
              <a:t>Dining-Philosophers Problem (Cont.)</a:t>
            </a:r>
          </a:p>
        </p:txBody>
      </p:sp>
      <p:sp>
        <p:nvSpPr>
          <p:cNvPr id="76803" name="Rectangle 3"/>
          <p:cNvSpPr>
            <a:spLocks noGrp="1" noChangeArrowheads="1"/>
          </p:cNvSpPr>
          <p:nvPr>
            <p:ph type="body" idx="1"/>
          </p:nvPr>
        </p:nvSpPr>
        <p:spPr>
          <a:xfrm>
            <a:off x="827088" y="1279525"/>
            <a:ext cx="7107237" cy="4784725"/>
          </a:xfrm>
        </p:spPr>
        <p:txBody>
          <a:bodyPr/>
          <a:lstStyle/>
          <a:p>
            <a:pPr marL="381000" indent="-381000">
              <a:lnSpc>
                <a:spcPct val="90000"/>
              </a:lnSpc>
              <a:tabLst>
                <a:tab pos="1712913" algn="l"/>
                <a:tab pos="2005013" algn="l"/>
                <a:tab pos="2232025" algn="l"/>
                <a:tab pos="2459038" algn="l"/>
              </a:tabLst>
            </a:pPr>
            <a:r>
              <a:rPr lang="en-US"/>
              <a:t>The structure of Philosopher</a:t>
            </a:r>
            <a:r>
              <a:rPr lang="en-US" i="1">
                <a:solidFill>
                  <a:srgbClr val="0000FF"/>
                </a:solidFill>
              </a:rPr>
              <a:t> i</a:t>
            </a:r>
            <a:r>
              <a:rPr lang="en-US"/>
              <a:t>:</a:t>
            </a:r>
          </a:p>
          <a:p>
            <a:pPr marL="381000" indent="-381000">
              <a:lnSpc>
                <a:spcPct val="90000"/>
              </a:lnSpc>
              <a:buFont typeface="Monotype Sorts" charset="2"/>
              <a:buNone/>
              <a:tabLst>
                <a:tab pos="1712913" algn="l"/>
                <a:tab pos="2005013" algn="l"/>
                <a:tab pos="2232025" algn="l"/>
                <a:tab pos="2459038" algn="l"/>
              </a:tabLst>
            </a:pPr>
            <a:endParaRPr lang="en-US"/>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do  {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wait ( chopstick[i]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wait ( chopStick[ (i + 1) % 5]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  eat</a:t>
            </a:r>
          </a:p>
          <a:p>
            <a:pPr marL="1200150" lvl="2" indent="-342900">
              <a:lnSpc>
                <a:spcPct val="90000"/>
              </a:lnSpc>
              <a:buFont typeface="Webdings" pitchFamily="18" charset="2"/>
              <a:buNone/>
              <a:tabLst>
                <a:tab pos="1712913" algn="l"/>
                <a:tab pos="2005013" algn="l"/>
                <a:tab pos="2232025" algn="l"/>
                <a:tab pos="2459038" algn="l"/>
              </a:tabLst>
            </a:pPr>
            <a:endParaRPr lang="en-US">
              <a:solidFill>
                <a:srgbClr val="0000FF"/>
              </a:solidFill>
            </a:endParaRP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signal ( chopstick[i]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signal (chopstick[ (i + 1) % 5]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a:t>
            </a: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  think</a:t>
            </a:r>
          </a:p>
          <a:p>
            <a:pPr marL="1200150" lvl="2" indent="-342900">
              <a:lnSpc>
                <a:spcPct val="90000"/>
              </a:lnSpc>
              <a:buFont typeface="Webdings" pitchFamily="18" charset="2"/>
              <a:buNone/>
              <a:tabLst>
                <a:tab pos="1712913" algn="l"/>
                <a:tab pos="2005013" algn="l"/>
                <a:tab pos="2232025" algn="l"/>
                <a:tab pos="2459038" algn="l"/>
              </a:tabLst>
            </a:pPr>
            <a:endParaRPr lang="en-US">
              <a:solidFill>
                <a:srgbClr val="0000FF"/>
              </a:solidFill>
            </a:endParaRPr>
          </a:p>
          <a:p>
            <a:pPr marL="1200150" lvl="2" indent="-342900">
              <a:lnSpc>
                <a:spcPct val="90000"/>
              </a:lnSpc>
              <a:buFont typeface="Webdings" pitchFamily="18" charset="2"/>
              <a:buNone/>
              <a:tabLst>
                <a:tab pos="1712913" algn="l"/>
                <a:tab pos="2005013" algn="l"/>
                <a:tab pos="2232025" algn="l"/>
                <a:tab pos="2459038" algn="l"/>
              </a:tabLst>
            </a:pPr>
            <a:r>
              <a:rPr lang="en-US">
                <a:solidFill>
                  <a:srgbClr val="0000FF"/>
                </a:solidFill>
              </a:rPr>
              <a:t>} while (TRUE);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923925" y="277813"/>
            <a:ext cx="7762875" cy="576262"/>
          </a:xfrm>
        </p:spPr>
        <p:txBody>
          <a:bodyPr/>
          <a:lstStyle/>
          <a:p>
            <a:pPr eaLnBrk="1" hangingPunct="1"/>
            <a:r>
              <a:rPr lang="en-US"/>
              <a:t>Problems with Semaphores</a:t>
            </a:r>
          </a:p>
        </p:txBody>
      </p:sp>
      <p:sp>
        <p:nvSpPr>
          <p:cNvPr id="78851" name="Rectangle 3"/>
          <p:cNvSpPr>
            <a:spLocks noGrp="1" noChangeArrowheads="1"/>
          </p:cNvSpPr>
          <p:nvPr>
            <p:ph type="body" idx="1"/>
          </p:nvPr>
        </p:nvSpPr>
        <p:spPr>
          <a:xfrm>
            <a:off x="827088" y="1282700"/>
            <a:ext cx="6959600" cy="4860925"/>
          </a:xfrm>
        </p:spPr>
        <p:txBody>
          <a:bodyPr/>
          <a:lstStyle/>
          <a:p>
            <a:r>
              <a:rPr lang="en-US"/>
              <a:t> Incorrect use of semaphore operations:</a:t>
            </a:r>
            <a:br>
              <a:rPr lang="en-US"/>
            </a:br>
            <a:endParaRPr lang="en-US"/>
          </a:p>
          <a:p>
            <a:pPr lvl="1"/>
            <a:r>
              <a:rPr lang="en-US"/>
              <a:t> signal (mutex)  ….  wait (mutex)</a:t>
            </a:r>
            <a:br>
              <a:rPr lang="en-US"/>
            </a:br>
            <a:endParaRPr lang="en-US"/>
          </a:p>
          <a:p>
            <a:pPr lvl="1"/>
            <a:r>
              <a:rPr lang="en-US"/>
              <a:t> wait (mutex)  …  wait (mutex)</a:t>
            </a:r>
          </a:p>
          <a:p>
            <a:pPr lvl="1"/>
            <a:endParaRPr lang="en-US"/>
          </a:p>
          <a:p>
            <a:pPr lvl="1"/>
            <a:r>
              <a:rPr lang="en-US"/>
              <a:t> Omitting  of wait (mutex) or signal (mutex) (or both)</a:t>
            </a:r>
          </a:p>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t>Monitors</a:t>
            </a:r>
          </a:p>
        </p:txBody>
      </p:sp>
      <p:sp>
        <p:nvSpPr>
          <p:cNvPr id="80899" name="Rectangle 3"/>
          <p:cNvSpPr>
            <a:spLocks noGrp="1" noChangeArrowheads="1"/>
          </p:cNvSpPr>
          <p:nvPr>
            <p:ph type="body" idx="1"/>
          </p:nvPr>
        </p:nvSpPr>
        <p:spPr>
          <a:xfrm>
            <a:off x="827088" y="1282700"/>
            <a:ext cx="7650162" cy="4860925"/>
          </a:xfrm>
        </p:spPr>
        <p:txBody>
          <a:bodyPr/>
          <a:lstStyle/>
          <a:p>
            <a:pPr>
              <a:lnSpc>
                <a:spcPct val="80000"/>
              </a:lnSpc>
            </a:pPr>
            <a:r>
              <a:rPr lang="en-US" sz="1600"/>
              <a:t>A high-level abstraction that provides a convenient and effective mechanism for process synchronization</a:t>
            </a:r>
          </a:p>
          <a:p>
            <a:pPr>
              <a:lnSpc>
                <a:spcPct val="80000"/>
              </a:lnSpc>
            </a:pPr>
            <a:endParaRPr lang="en-US" sz="800"/>
          </a:p>
          <a:p>
            <a:pPr>
              <a:lnSpc>
                <a:spcPct val="80000"/>
              </a:lnSpc>
            </a:pPr>
            <a:r>
              <a:rPr lang="en-US" sz="1600"/>
              <a:t>Only one process may be active within the monitor at a time</a:t>
            </a:r>
          </a:p>
          <a:p>
            <a:pPr lvl="2">
              <a:lnSpc>
                <a:spcPct val="80000"/>
              </a:lnSpc>
              <a:buFont typeface="Webdings" pitchFamily="18" charset="2"/>
              <a:buNone/>
            </a:pPr>
            <a:endParaRPr lang="en-US" sz="1400">
              <a:solidFill>
                <a:srgbClr val="0000FF"/>
              </a:solidFill>
            </a:endParaRPr>
          </a:p>
          <a:p>
            <a:pPr lvl="2">
              <a:lnSpc>
                <a:spcPct val="80000"/>
              </a:lnSpc>
              <a:buFont typeface="Webdings" pitchFamily="18" charset="2"/>
              <a:buNone/>
            </a:pPr>
            <a:r>
              <a:rPr lang="en-US" sz="1600">
                <a:solidFill>
                  <a:srgbClr val="0000FF"/>
                </a:solidFill>
              </a:rPr>
              <a:t>monitor monitor-name</a:t>
            </a:r>
          </a:p>
          <a:p>
            <a:pPr lvl="2">
              <a:lnSpc>
                <a:spcPct val="80000"/>
              </a:lnSpc>
              <a:buFont typeface="Webdings" pitchFamily="18" charset="2"/>
              <a:buNone/>
            </a:pPr>
            <a:r>
              <a:rPr lang="en-US" sz="1600">
                <a:solidFill>
                  <a:srgbClr val="0000FF"/>
                </a:solidFill>
              </a:rPr>
              <a:t>{</a:t>
            </a:r>
          </a:p>
          <a:p>
            <a:pPr lvl="2">
              <a:lnSpc>
                <a:spcPct val="80000"/>
              </a:lnSpc>
              <a:buFont typeface="Webdings" pitchFamily="18" charset="2"/>
              <a:buNone/>
            </a:pPr>
            <a:r>
              <a:rPr lang="en-US" sz="1600">
                <a:solidFill>
                  <a:srgbClr val="0000FF"/>
                </a:solidFill>
              </a:rPr>
              <a:t>	// shared variable declarations</a:t>
            </a:r>
          </a:p>
          <a:p>
            <a:pPr lvl="2">
              <a:lnSpc>
                <a:spcPct val="80000"/>
              </a:lnSpc>
              <a:buFont typeface="Webdings" pitchFamily="18" charset="2"/>
              <a:buNone/>
            </a:pPr>
            <a:r>
              <a:rPr lang="en-US" sz="1600">
                <a:solidFill>
                  <a:srgbClr val="0000FF"/>
                </a:solidFill>
              </a:rPr>
              <a:t>	procedure P1 (…) { …. }</a:t>
            </a:r>
          </a:p>
          <a:p>
            <a:pPr lvl="2">
              <a:lnSpc>
                <a:spcPct val="80000"/>
              </a:lnSpc>
              <a:buFont typeface="Webdings" pitchFamily="18" charset="2"/>
              <a:buNone/>
            </a:pPr>
            <a:r>
              <a:rPr lang="en-US" sz="1600">
                <a:solidFill>
                  <a:srgbClr val="0000FF"/>
                </a:solidFill>
              </a:rPr>
              <a:t>		…</a:t>
            </a:r>
          </a:p>
          <a:p>
            <a:pPr lvl="2">
              <a:lnSpc>
                <a:spcPct val="80000"/>
              </a:lnSpc>
              <a:buFont typeface="Webdings" pitchFamily="18" charset="2"/>
              <a:buNone/>
            </a:pPr>
            <a:endParaRPr lang="en-US" sz="1600">
              <a:solidFill>
                <a:srgbClr val="0000FF"/>
              </a:solidFill>
            </a:endParaRPr>
          </a:p>
          <a:p>
            <a:pPr lvl="2">
              <a:lnSpc>
                <a:spcPct val="80000"/>
              </a:lnSpc>
              <a:buFont typeface="Webdings" pitchFamily="18" charset="2"/>
              <a:buNone/>
            </a:pPr>
            <a:r>
              <a:rPr lang="en-US" sz="1600">
                <a:solidFill>
                  <a:srgbClr val="0000FF"/>
                </a:solidFill>
              </a:rPr>
              <a:t>	procedure Pn (…) {……}</a:t>
            </a:r>
          </a:p>
          <a:p>
            <a:pPr lvl="2">
              <a:lnSpc>
                <a:spcPct val="80000"/>
              </a:lnSpc>
              <a:buFont typeface="Webdings" pitchFamily="18" charset="2"/>
              <a:buNone/>
            </a:pPr>
            <a:endParaRPr lang="en-US" sz="1600">
              <a:solidFill>
                <a:srgbClr val="0000FF"/>
              </a:solidFill>
            </a:endParaRPr>
          </a:p>
          <a:p>
            <a:pPr lvl="2">
              <a:lnSpc>
                <a:spcPct val="80000"/>
              </a:lnSpc>
              <a:buFont typeface="Webdings" pitchFamily="18" charset="2"/>
              <a:buNone/>
            </a:pPr>
            <a:r>
              <a:rPr lang="en-US" sz="1600">
                <a:solidFill>
                  <a:srgbClr val="0000FF"/>
                </a:solidFill>
              </a:rPr>
              <a:t>     Initialization code ( ….) { … }</a:t>
            </a:r>
          </a:p>
          <a:p>
            <a:pPr lvl="2">
              <a:lnSpc>
                <a:spcPct val="80000"/>
              </a:lnSpc>
              <a:buFont typeface="Webdings" pitchFamily="18" charset="2"/>
              <a:buNone/>
            </a:pPr>
            <a:r>
              <a:rPr lang="en-US" sz="1600">
                <a:solidFill>
                  <a:srgbClr val="0000FF"/>
                </a:solidFill>
              </a:rPr>
              <a:t>		…</a:t>
            </a:r>
          </a:p>
          <a:p>
            <a:pPr lvl="2">
              <a:lnSpc>
                <a:spcPct val="80000"/>
              </a:lnSpc>
              <a:buFont typeface="Webdings" pitchFamily="18" charset="2"/>
              <a:buNone/>
            </a:pPr>
            <a:r>
              <a:rPr lang="en-US" sz="1600">
                <a:solidFill>
                  <a:srgbClr val="0000FF"/>
                </a:solidFill>
              </a:rPr>
              <a:t>	}</a:t>
            </a:r>
          </a:p>
          <a:p>
            <a:pPr lvl="2">
              <a:lnSpc>
                <a:spcPct val="80000"/>
              </a:lnSpc>
              <a:buFont typeface="Webdings" pitchFamily="18" charset="2"/>
              <a:buNone/>
            </a:pPr>
            <a:r>
              <a:rPr lang="en-US" sz="1600">
                <a:solidFill>
                  <a:srgbClr val="0000FF"/>
                </a:solidFill>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222375" y="277813"/>
            <a:ext cx="7464425" cy="576262"/>
          </a:xfrm>
        </p:spPr>
        <p:txBody>
          <a:bodyPr/>
          <a:lstStyle/>
          <a:p>
            <a:pPr eaLnBrk="1" hangingPunct="1"/>
            <a:r>
              <a:rPr lang="en-US"/>
              <a:t>Schematic view of a Monitor</a:t>
            </a:r>
          </a:p>
        </p:txBody>
      </p:sp>
      <p:pic>
        <p:nvPicPr>
          <p:cNvPr id="82948" name="Picture 4" descr="6"/>
          <p:cNvPicPr>
            <a:picLocks noChangeAspect="1" noChangeArrowheads="1"/>
          </p:cNvPicPr>
          <p:nvPr/>
        </p:nvPicPr>
        <p:blipFill>
          <a:blip r:embed="rId3"/>
          <a:srcRect/>
          <a:stretch>
            <a:fillRect/>
          </a:stretch>
        </p:blipFill>
        <p:spPr bwMode="auto">
          <a:xfrm>
            <a:off x="1981200" y="1101725"/>
            <a:ext cx="5411788" cy="5145088"/>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Grp="1" noChangeArrowheads="1"/>
          </p:cNvSpPr>
          <p:nvPr>
            <p:ph type="title"/>
          </p:nvPr>
        </p:nvSpPr>
        <p:spPr>
          <a:xfrm>
            <a:off x="1027113" y="277813"/>
            <a:ext cx="7659687" cy="576262"/>
          </a:xfrm>
        </p:spPr>
        <p:txBody>
          <a:bodyPr/>
          <a:lstStyle/>
          <a:p>
            <a:pPr eaLnBrk="1" hangingPunct="1"/>
            <a:r>
              <a:rPr lang="en-US"/>
              <a:t>Condition Variables</a:t>
            </a:r>
          </a:p>
        </p:txBody>
      </p:sp>
      <p:sp>
        <p:nvSpPr>
          <p:cNvPr id="84995" name="Rectangle 5"/>
          <p:cNvSpPr>
            <a:spLocks noGrp="1" noChangeArrowheads="1"/>
          </p:cNvSpPr>
          <p:nvPr>
            <p:ph type="body" idx="1"/>
          </p:nvPr>
        </p:nvSpPr>
        <p:spPr>
          <a:xfrm>
            <a:off x="827088" y="1382713"/>
            <a:ext cx="7666037" cy="4394200"/>
          </a:xfrm>
        </p:spPr>
        <p:txBody>
          <a:bodyPr/>
          <a:lstStyle/>
          <a:p>
            <a:r>
              <a:rPr lang="en-US">
                <a:solidFill>
                  <a:srgbClr val="0000FF"/>
                </a:solidFill>
              </a:rPr>
              <a:t>condition x, y;</a:t>
            </a:r>
          </a:p>
          <a:p>
            <a:endParaRPr lang="en-US">
              <a:solidFill>
                <a:srgbClr val="0000FF"/>
              </a:solidFill>
            </a:endParaRPr>
          </a:p>
          <a:p>
            <a:r>
              <a:rPr lang="en-US"/>
              <a:t>Two operations on a condition variable:</a:t>
            </a:r>
          </a:p>
          <a:p>
            <a:pPr lvl="1"/>
            <a:r>
              <a:rPr lang="en-US">
                <a:solidFill>
                  <a:srgbClr val="0000FF"/>
                </a:solidFill>
              </a:rPr>
              <a:t>x.wait () </a:t>
            </a:r>
            <a:r>
              <a:rPr lang="en-US"/>
              <a:t> – a process that invokes the operation is </a:t>
            </a:r>
          </a:p>
          <a:p>
            <a:pPr lvl="1">
              <a:buFont typeface="Monotype Sorts" charset="2"/>
              <a:buNone/>
            </a:pPr>
            <a:r>
              <a:rPr lang="en-US"/>
              <a:t>                      suspended.</a:t>
            </a:r>
          </a:p>
          <a:p>
            <a:pPr lvl="1"/>
            <a:r>
              <a:rPr lang="en-US">
                <a:solidFill>
                  <a:srgbClr val="0000FF"/>
                </a:solidFill>
              </a:rPr>
              <a:t>x.signal () </a:t>
            </a:r>
            <a:r>
              <a:rPr lang="en-US"/>
              <a:t>–</a:t>
            </a:r>
            <a:r>
              <a:rPr lang="en-US">
                <a:solidFill>
                  <a:srgbClr val="0000FF"/>
                </a:solidFill>
              </a:rPr>
              <a:t> </a:t>
            </a:r>
            <a:r>
              <a:rPr lang="en-US"/>
              <a:t>resumes one of processes</a:t>
            </a:r>
            <a:r>
              <a:rPr lang="en-US">
                <a:solidFill>
                  <a:srgbClr val="0000FF"/>
                </a:solidFill>
              </a:rPr>
              <a:t> </a:t>
            </a:r>
            <a:r>
              <a:rPr lang="en-US"/>
              <a:t>(if any)</a:t>
            </a:r>
            <a:r>
              <a:rPr lang="en-US">
                <a:solidFill>
                  <a:srgbClr val="0000FF"/>
                </a:solidFill>
              </a:rPr>
              <a:t> </a:t>
            </a:r>
            <a:r>
              <a:rPr lang="en-US"/>
              <a:t>that</a:t>
            </a:r>
          </a:p>
          <a:p>
            <a:pPr lvl="1">
              <a:buFont typeface="Monotype Sorts" charset="2"/>
              <a:buNone/>
            </a:pPr>
            <a:r>
              <a:rPr lang="en-US">
                <a:solidFill>
                  <a:srgbClr val="0000FF"/>
                </a:solidFill>
              </a:rPr>
              <a:t>                        </a:t>
            </a:r>
            <a:r>
              <a:rPr lang="en-US"/>
              <a:t> invoked</a:t>
            </a:r>
            <a:r>
              <a:rPr lang="en-US">
                <a:solidFill>
                  <a:srgbClr val="0000FF"/>
                </a:solidFill>
              </a:rPr>
              <a:t> x.wait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839788" y="277813"/>
            <a:ext cx="7847012" cy="576262"/>
          </a:xfrm>
        </p:spPr>
        <p:txBody>
          <a:bodyPr/>
          <a:lstStyle/>
          <a:p>
            <a:pPr eaLnBrk="1" hangingPunct="1"/>
            <a:r>
              <a:rPr lang="en-US"/>
              <a:t> Monitor with Condition Variables</a:t>
            </a:r>
          </a:p>
        </p:txBody>
      </p:sp>
      <p:pic>
        <p:nvPicPr>
          <p:cNvPr id="87044" name="Picture 4" descr="6"/>
          <p:cNvPicPr>
            <a:picLocks noChangeAspect="1" noChangeArrowheads="1"/>
          </p:cNvPicPr>
          <p:nvPr/>
        </p:nvPicPr>
        <p:blipFill>
          <a:blip r:embed="rId3"/>
          <a:srcRect/>
          <a:stretch>
            <a:fillRect/>
          </a:stretch>
        </p:blipFill>
        <p:spPr bwMode="auto">
          <a:xfrm>
            <a:off x="1128713" y="1365250"/>
            <a:ext cx="6904037" cy="4772025"/>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57250" y="234950"/>
            <a:ext cx="8077200" cy="609600"/>
          </a:xfrm>
        </p:spPr>
        <p:txBody>
          <a:bodyPr/>
          <a:lstStyle/>
          <a:p>
            <a:pPr eaLnBrk="1" hangingPunct="1"/>
            <a:r>
              <a:rPr lang="en-US"/>
              <a:t>Solution to Dining Philosophers</a:t>
            </a:r>
          </a:p>
        </p:txBody>
      </p:sp>
      <p:sp>
        <p:nvSpPr>
          <p:cNvPr id="89091" name="Rectangle 3"/>
          <p:cNvSpPr>
            <a:spLocks noGrp="1" noChangeArrowheads="1"/>
          </p:cNvSpPr>
          <p:nvPr>
            <p:ph type="body" idx="1"/>
          </p:nvPr>
        </p:nvSpPr>
        <p:spPr>
          <a:xfrm>
            <a:off x="827088" y="1279525"/>
            <a:ext cx="7123112" cy="5384800"/>
          </a:xfrm>
        </p:spPr>
        <p:txBody>
          <a:bodyPr/>
          <a:lstStyle/>
          <a:p>
            <a:pPr>
              <a:lnSpc>
                <a:spcPct val="80000"/>
              </a:lnSpc>
              <a:buFont typeface="Monotype Sorts" charset="2"/>
              <a:buNone/>
            </a:pPr>
            <a:r>
              <a:rPr lang="en-US" sz="1600">
                <a:solidFill>
                  <a:srgbClr val="0000FF"/>
                </a:solidFill>
              </a:rPr>
              <a:t>monitor DP</a:t>
            </a:r>
          </a:p>
          <a:p>
            <a:pPr>
              <a:lnSpc>
                <a:spcPct val="80000"/>
              </a:lnSpc>
              <a:buFont typeface="Monotype Sorts" charset="2"/>
              <a:buNone/>
            </a:pPr>
            <a:r>
              <a:rPr lang="en-US" sz="1600">
                <a:solidFill>
                  <a:srgbClr val="0000FF"/>
                </a:solidFill>
              </a:rPr>
              <a:t>   { </a:t>
            </a:r>
          </a:p>
          <a:p>
            <a:pPr>
              <a:lnSpc>
                <a:spcPct val="80000"/>
              </a:lnSpc>
              <a:buFont typeface="Monotype Sorts" charset="2"/>
              <a:buNone/>
            </a:pPr>
            <a:r>
              <a:rPr lang="en-US" sz="1600">
                <a:solidFill>
                  <a:srgbClr val="0000FF"/>
                </a:solidFill>
              </a:rPr>
              <a:t>	enum { THINKING; HUNGRY, EATING) state [5] ;</a:t>
            </a:r>
          </a:p>
          <a:p>
            <a:pPr>
              <a:lnSpc>
                <a:spcPct val="80000"/>
              </a:lnSpc>
              <a:buFont typeface="Monotype Sorts" charset="2"/>
              <a:buNone/>
            </a:pPr>
            <a:r>
              <a:rPr lang="en-US" sz="1600">
                <a:solidFill>
                  <a:srgbClr val="0000FF"/>
                </a:solidFill>
              </a:rPr>
              <a:t>	condition self [5];</a:t>
            </a:r>
          </a:p>
          <a:p>
            <a:pPr>
              <a:lnSpc>
                <a:spcPct val="80000"/>
              </a:lnSpc>
              <a:buFont typeface="Monotype Sorts" charset="2"/>
              <a:buNone/>
            </a:pPr>
            <a:endParaRPr lang="en-US" sz="1600">
              <a:solidFill>
                <a:srgbClr val="0000FF"/>
              </a:solidFill>
            </a:endParaRPr>
          </a:p>
          <a:p>
            <a:pPr>
              <a:lnSpc>
                <a:spcPct val="80000"/>
              </a:lnSpc>
              <a:buFont typeface="Monotype Sorts" charset="2"/>
              <a:buNone/>
            </a:pPr>
            <a:r>
              <a:rPr lang="en-US" sz="1600">
                <a:solidFill>
                  <a:srgbClr val="0000FF"/>
                </a:solidFill>
              </a:rPr>
              <a:t>	void pickup (int i) { </a:t>
            </a:r>
          </a:p>
          <a:p>
            <a:pPr>
              <a:lnSpc>
                <a:spcPct val="80000"/>
              </a:lnSpc>
              <a:buFont typeface="Monotype Sorts" charset="2"/>
              <a:buNone/>
            </a:pPr>
            <a:r>
              <a:rPr lang="en-US" sz="1600">
                <a:solidFill>
                  <a:srgbClr val="0000FF"/>
                </a:solidFill>
              </a:rPr>
              <a:t>	       state[i] = HUNGRY;</a:t>
            </a:r>
          </a:p>
          <a:p>
            <a:pPr>
              <a:lnSpc>
                <a:spcPct val="80000"/>
              </a:lnSpc>
              <a:buFont typeface="Monotype Sorts" charset="2"/>
              <a:buNone/>
            </a:pPr>
            <a:r>
              <a:rPr lang="en-US" sz="1600">
                <a:solidFill>
                  <a:srgbClr val="0000FF"/>
                </a:solidFill>
              </a:rPr>
              <a:t>	       test(i);</a:t>
            </a:r>
          </a:p>
          <a:p>
            <a:pPr>
              <a:lnSpc>
                <a:spcPct val="80000"/>
              </a:lnSpc>
              <a:buFont typeface="Monotype Sorts" charset="2"/>
              <a:buNone/>
            </a:pPr>
            <a:r>
              <a:rPr lang="en-US" sz="1600">
                <a:solidFill>
                  <a:srgbClr val="0000FF"/>
                </a:solidFill>
              </a:rPr>
              <a:t>	       if (state[i] != EATING) self [i].wait;</a:t>
            </a:r>
          </a:p>
          <a:p>
            <a:pPr>
              <a:lnSpc>
                <a:spcPct val="80000"/>
              </a:lnSpc>
              <a:buFont typeface="Monotype Sorts" charset="2"/>
              <a:buNone/>
            </a:pPr>
            <a:r>
              <a:rPr lang="en-US" sz="1600">
                <a:solidFill>
                  <a:srgbClr val="0000FF"/>
                </a:solidFill>
              </a:rPr>
              <a:t>	}</a:t>
            </a:r>
          </a:p>
          <a:p>
            <a:pPr>
              <a:lnSpc>
                <a:spcPct val="80000"/>
              </a:lnSpc>
              <a:buFont typeface="Monotype Sorts" charset="2"/>
              <a:buNone/>
            </a:pPr>
            <a:r>
              <a:rPr lang="en-US" sz="1600">
                <a:solidFill>
                  <a:srgbClr val="0000FF"/>
                </a:solidFill>
              </a:rPr>
              <a:t>	</a:t>
            </a:r>
          </a:p>
          <a:p>
            <a:pPr>
              <a:lnSpc>
                <a:spcPct val="80000"/>
              </a:lnSpc>
              <a:buFont typeface="Monotype Sorts" charset="2"/>
              <a:buNone/>
            </a:pPr>
            <a:r>
              <a:rPr lang="en-US" sz="1600">
                <a:solidFill>
                  <a:srgbClr val="0000FF"/>
                </a:solidFill>
              </a:rPr>
              <a:t>       void putdown (int i) { </a:t>
            </a:r>
          </a:p>
          <a:p>
            <a:pPr>
              <a:lnSpc>
                <a:spcPct val="80000"/>
              </a:lnSpc>
              <a:buFont typeface="Monotype Sorts" charset="2"/>
              <a:buNone/>
            </a:pPr>
            <a:r>
              <a:rPr lang="en-US" sz="1600">
                <a:solidFill>
                  <a:srgbClr val="0000FF"/>
                </a:solidFill>
              </a:rPr>
              <a:t>	       state[i] = THINKING;</a:t>
            </a:r>
          </a:p>
          <a:p>
            <a:pPr>
              <a:lnSpc>
                <a:spcPct val="80000"/>
              </a:lnSpc>
              <a:buFont typeface="Monotype Sorts" charset="2"/>
              <a:buNone/>
            </a:pPr>
            <a:r>
              <a:rPr lang="en-US" sz="1600">
                <a:solidFill>
                  <a:srgbClr val="0000FF"/>
                </a:solidFill>
              </a:rPr>
              <a:t>                   // test left and right neighbors</a:t>
            </a:r>
          </a:p>
          <a:p>
            <a:pPr>
              <a:lnSpc>
                <a:spcPct val="80000"/>
              </a:lnSpc>
              <a:buFont typeface="Monotype Sorts" charset="2"/>
              <a:buNone/>
            </a:pPr>
            <a:r>
              <a:rPr lang="en-US" sz="1600">
                <a:solidFill>
                  <a:srgbClr val="0000FF"/>
                </a:solidFill>
              </a:rPr>
              <a:t>	        test((i + 4) % 5);</a:t>
            </a:r>
          </a:p>
          <a:p>
            <a:pPr>
              <a:lnSpc>
                <a:spcPct val="80000"/>
              </a:lnSpc>
              <a:buFont typeface="Monotype Sorts" charset="2"/>
              <a:buNone/>
            </a:pPr>
            <a:r>
              <a:rPr lang="en-US" sz="1600">
                <a:solidFill>
                  <a:srgbClr val="0000FF"/>
                </a:solidFill>
              </a:rPr>
              <a:t>	        test((i + 1) % 5);</a:t>
            </a:r>
          </a:p>
          <a:p>
            <a:pPr>
              <a:lnSpc>
                <a:spcPct val="80000"/>
              </a:lnSpc>
              <a:buFont typeface="Monotype Sorts" charset="2"/>
              <a:buNone/>
            </a:pPr>
            <a:r>
              <a:rPr lang="en-US" sz="1600">
                <a:solidFill>
                  <a:srgbClr val="0000FF"/>
                </a:solidFill>
              </a:rPr>
              <a:t>        }</a:t>
            </a:r>
          </a:p>
          <a:p>
            <a:pPr>
              <a:lnSpc>
                <a:spcPct val="80000"/>
              </a:lnSpc>
              <a:buFont typeface="Monotype Sorts" charset="2"/>
              <a:buNone/>
            </a:pPr>
            <a:r>
              <a:rPr lang="en-US" sz="1600">
                <a:solidFill>
                  <a:srgbClr val="0000FF"/>
                </a:solidFill>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1035050" y="211138"/>
            <a:ext cx="7916863" cy="638175"/>
          </a:xfrm>
        </p:spPr>
        <p:txBody>
          <a:bodyPr/>
          <a:lstStyle/>
          <a:p>
            <a:pPr eaLnBrk="1" hangingPunct="1"/>
            <a:r>
              <a:rPr lang="en-US"/>
              <a:t>Solution to Dining Philosophers (Cont.)</a:t>
            </a:r>
          </a:p>
        </p:txBody>
      </p:sp>
      <p:sp>
        <p:nvSpPr>
          <p:cNvPr id="91139" name="Rectangle 3"/>
          <p:cNvSpPr>
            <a:spLocks noGrp="1" noChangeArrowheads="1"/>
          </p:cNvSpPr>
          <p:nvPr>
            <p:ph type="body" idx="1"/>
          </p:nvPr>
        </p:nvSpPr>
        <p:spPr>
          <a:xfrm>
            <a:off x="827088" y="1279525"/>
            <a:ext cx="7805737" cy="5268913"/>
          </a:xfrm>
        </p:spPr>
        <p:txBody>
          <a:bodyPr/>
          <a:lstStyle/>
          <a:p>
            <a:pPr>
              <a:lnSpc>
                <a:spcPct val="80000"/>
              </a:lnSpc>
              <a:buFont typeface="Monotype Sorts" charset="2"/>
              <a:buNone/>
            </a:pPr>
            <a:endParaRPr lang="en-US" sz="1600">
              <a:solidFill>
                <a:srgbClr val="0000FF"/>
              </a:solidFill>
            </a:endParaRPr>
          </a:p>
          <a:p>
            <a:pPr>
              <a:lnSpc>
                <a:spcPct val="80000"/>
              </a:lnSpc>
              <a:buFont typeface="Monotype Sorts" charset="2"/>
              <a:buNone/>
            </a:pPr>
            <a:r>
              <a:rPr lang="en-US" sz="1600">
                <a:solidFill>
                  <a:srgbClr val="0000FF"/>
                </a:solidFill>
              </a:rPr>
              <a:t>	void test (int i) { </a:t>
            </a:r>
          </a:p>
          <a:p>
            <a:pPr>
              <a:lnSpc>
                <a:spcPct val="80000"/>
              </a:lnSpc>
              <a:buFont typeface="Monotype Sorts" charset="2"/>
              <a:buNone/>
            </a:pPr>
            <a:r>
              <a:rPr lang="en-US" sz="1600">
                <a:solidFill>
                  <a:srgbClr val="0000FF"/>
                </a:solidFill>
              </a:rPr>
              <a:t>	        if ( (state[(i + 4) % 5] != EATING) &amp;&amp;</a:t>
            </a:r>
          </a:p>
          <a:p>
            <a:pPr>
              <a:lnSpc>
                <a:spcPct val="80000"/>
              </a:lnSpc>
              <a:buFont typeface="Monotype Sorts" charset="2"/>
              <a:buNone/>
            </a:pPr>
            <a:r>
              <a:rPr lang="en-US" sz="1600">
                <a:solidFill>
                  <a:srgbClr val="0000FF"/>
                </a:solidFill>
              </a:rPr>
              <a:t>	        (state[i] == HUNGRY) &amp;&amp;</a:t>
            </a:r>
          </a:p>
          <a:p>
            <a:pPr>
              <a:lnSpc>
                <a:spcPct val="80000"/>
              </a:lnSpc>
              <a:buFont typeface="Monotype Sorts" charset="2"/>
              <a:buNone/>
            </a:pPr>
            <a:r>
              <a:rPr lang="en-US" sz="1600">
                <a:solidFill>
                  <a:srgbClr val="0000FF"/>
                </a:solidFill>
              </a:rPr>
              <a:t>	        (state[(i + 1) % 5] != EATING) ) { </a:t>
            </a:r>
          </a:p>
          <a:p>
            <a:pPr>
              <a:lnSpc>
                <a:spcPct val="80000"/>
              </a:lnSpc>
              <a:buFont typeface="Monotype Sorts" charset="2"/>
              <a:buNone/>
            </a:pPr>
            <a:r>
              <a:rPr lang="en-US" sz="1600">
                <a:solidFill>
                  <a:srgbClr val="0000FF"/>
                </a:solidFill>
              </a:rPr>
              <a:t>	             state[i] = EATING ;</a:t>
            </a:r>
          </a:p>
          <a:p>
            <a:pPr>
              <a:lnSpc>
                <a:spcPct val="80000"/>
              </a:lnSpc>
              <a:buFont typeface="Monotype Sorts" charset="2"/>
              <a:buNone/>
            </a:pPr>
            <a:r>
              <a:rPr lang="en-US" sz="1600">
                <a:solidFill>
                  <a:srgbClr val="0000FF"/>
                </a:solidFill>
              </a:rPr>
              <a:t>		    self[i].signal () ;</a:t>
            </a:r>
          </a:p>
          <a:p>
            <a:pPr>
              <a:lnSpc>
                <a:spcPct val="80000"/>
              </a:lnSpc>
              <a:buFont typeface="Monotype Sorts" charset="2"/>
              <a:buNone/>
            </a:pPr>
            <a:r>
              <a:rPr lang="en-US" sz="1600">
                <a:solidFill>
                  <a:srgbClr val="0000FF"/>
                </a:solidFill>
              </a:rPr>
              <a:t>	         }</a:t>
            </a:r>
          </a:p>
          <a:p>
            <a:pPr>
              <a:lnSpc>
                <a:spcPct val="80000"/>
              </a:lnSpc>
              <a:buFont typeface="Monotype Sorts" charset="2"/>
              <a:buNone/>
            </a:pPr>
            <a:r>
              <a:rPr lang="en-US" sz="1600">
                <a:solidFill>
                  <a:srgbClr val="0000FF"/>
                </a:solidFill>
              </a:rPr>
              <a:t>	 }</a:t>
            </a:r>
          </a:p>
          <a:p>
            <a:pPr>
              <a:lnSpc>
                <a:spcPct val="80000"/>
              </a:lnSpc>
              <a:buFont typeface="Monotype Sorts" charset="2"/>
              <a:buNone/>
            </a:pPr>
            <a:endParaRPr lang="en-US" sz="1600">
              <a:solidFill>
                <a:srgbClr val="0000FF"/>
              </a:solidFill>
            </a:endParaRPr>
          </a:p>
          <a:p>
            <a:pPr>
              <a:lnSpc>
                <a:spcPct val="80000"/>
              </a:lnSpc>
              <a:buFont typeface="Monotype Sorts" charset="2"/>
              <a:buNone/>
            </a:pPr>
            <a:r>
              <a:rPr lang="en-US" sz="1600">
                <a:solidFill>
                  <a:srgbClr val="0000FF"/>
                </a:solidFill>
              </a:rPr>
              <a:t>       initialization_code() { </a:t>
            </a:r>
          </a:p>
          <a:p>
            <a:pPr>
              <a:lnSpc>
                <a:spcPct val="80000"/>
              </a:lnSpc>
              <a:buFont typeface="Monotype Sorts" charset="2"/>
              <a:buNone/>
            </a:pPr>
            <a:r>
              <a:rPr lang="en-US" sz="1600">
                <a:solidFill>
                  <a:srgbClr val="0000FF"/>
                </a:solidFill>
              </a:rPr>
              <a:t>	       for (int i = 0; i &lt; 5; i++)</a:t>
            </a:r>
          </a:p>
          <a:p>
            <a:pPr>
              <a:lnSpc>
                <a:spcPct val="80000"/>
              </a:lnSpc>
              <a:buFont typeface="Monotype Sorts" charset="2"/>
              <a:buNone/>
            </a:pPr>
            <a:r>
              <a:rPr lang="en-US" sz="1600">
                <a:solidFill>
                  <a:srgbClr val="0000FF"/>
                </a:solidFill>
              </a:rPr>
              <a:t>	       state[i] = THINKING;</a:t>
            </a:r>
          </a:p>
          <a:p>
            <a:pPr>
              <a:lnSpc>
                <a:spcPct val="80000"/>
              </a:lnSpc>
              <a:buFont typeface="Monotype Sorts" charset="2"/>
              <a:buNone/>
            </a:pPr>
            <a:r>
              <a:rPr lang="en-US" sz="1600" i="1">
                <a:solidFill>
                  <a:srgbClr val="0000FF"/>
                </a:solidFill>
              </a:rPr>
              <a:t>	</a:t>
            </a:r>
            <a:r>
              <a:rPr lang="en-US" sz="1600">
                <a:solidFill>
                  <a:srgbClr val="0000FF"/>
                </a:solidFill>
              </a:rPr>
              <a:t>}</a:t>
            </a:r>
          </a:p>
          <a:p>
            <a:pPr>
              <a:lnSpc>
                <a:spcPct val="80000"/>
              </a:lnSpc>
              <a:buFont typeface="Monotype Sorts" charset="2"/>
              <a:buNone/>
            </a:pPr>
            <a:r>
              <a:rPr lang="en-US" sz="1600">
                <a:solidFill>
                  <a:srgbClr val="0000FF"/>
                </a:solidFill>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idx="1"/>
          </p:nvPr>
        </p:nvSpPr>
        <p:spPr>
          <a:xfrm>
            <a:off x="827088" y="1279525"/>
            <a:ext cx="7805737" cy="5268913"/>
          </a:xfrm>
        </p:spPr>
        <p:txBody>
          <a:bodyPr/>
          <a:lstStyle/>
          <a:p>
            <a:pPr>
              <a:lnSpc>
                <a:spcPct val="80000"/>
              </a:lnSpc>
              <a:buFont typeface="Monotype Sorts" charset="2"/>
              <a:buNone/>
            </a:pPr>
            <a:endParaRPr lang="en-US" sz="1600">
              <a:solidFill>
                <a:srgbClr val="0000FF"/>
              </a:solidFill>
            </a:endParaRPr>
          </a:p>
          <a:p>
            <a:pPr>
              <a:lnSpc>
                <a:spcPct val="80000"/>
              </a:lnSpc>
            </a:pPr>
            <a:r>
              <a:rPr lang="en-US"/>
              <a:t>Each philosopher </a:t>
            </a:r>
            <a:r>
              <a:rPr lang="en-US" i="1"/>
              <a:t>I </a:t>
            </a:r>
            <a:r>
              <a:rPr lang="en-US"/>
              <a:t>invokes the</a:t>
            </a:r>
            <a:r>
              <a:rPr lang="en-US" i="1"/>
              <a:t> </a:t>
            </a:r>
            <a:r>
              <a:rPr lang="en-US"/>
              <a:t>operations </a:t>
            </a:r>
            <a:r>
              <a:rPr lang="en-US">
                <a:solidFill>
                  <a:srgbClr val="0000FF"/>
                </a:solidFill>
              </a:rPr>
              <a:t>pickup()</a:t>
            </a:r>
          </a:p>
          <a:p>
            <a:pPr>
              <a:lnSpc>
                <a:spcPct val="80000"/>
              </a:lnSpc>
              <a:buFont typeface="Monotype Sorts" charset="2"/>
              <a:buNone/>
            </a:pPr>
            <a:r>
              <a:rPr lang="en-US" i="1"/>
              <a:t>      </a:t>
            </a:r>
            <a:r>
              <a:rPr lang="en-US"/>
              <a:t>and </a:t>
            </a:r>
            <a:r>
              <a:rPr lang="en-US">
                <a:solidFill>
                  <a:srgbClr val="0000FF"/>
                </a:solidFill>
              </a:rPr>
              <a:t>putdown()</a:t>
            </a:r>
            <a:r>
              <a:rPr lang="en-US"/>
              <a:t> in the following sequence:</a:t>
            </a:r>
          </a:p>
          <a:p>
            <a:pPr>
              <a:lnSpc>
                <a:spcPct val="80000"/>
              </a:lnSpc>
              <a:buFont typeface="Monotype Sorts" charset="2"/>
              <a:buNone/>
            </a:pPr>
            <a:endParaRPr lang="en-US"/>
          </a:p>
          <a:p>
            <a:pPr>
              <a:lnSpc>
                <a:spcPct val="80000"/>
              </a:lnSpc>
              <a:buFont typeface="Monotype Sorts" charset="2"/>
              <a:buNone/>
            </a:pPr>
            <a:r>
              <a:rPr lang="en-US">
                <a:solidFill>
                  <a:srgbClr val="0000FF"/>
                </a:solidFill>
              </a:rPr>
              <a:t>              DiningPhilosophters.pickup (i);</a:t>
            </a:r>
          </a:p>
          <a:p>
            <a:pPr>
              <a:lnSpc>
                <a:spcPct val="80000"/>
              </a:lnSpc>
              <a:buFont typeface="Monotype Sorts" charset="2"/>
              <a:buNone/>
            </a:pPr>
            <a:endParaRPr lang="en-US">
              <a:solidFill>
                <a:srgbClr val="0000FF"/>
              </a:solidFill>
            </a:endParaRPr>
          </a:p>
          <a:p>
            <a:pPr>
              <a:lnSpc>
                <a:spcPct val="80000"/>
              </a:lnSpc>
              <a:buFont typeface="Monotype Sorts" charset="2"/>
              <a:buNone/>
            </a:pPr>
            <a:r>
              <a:rPr lang="en-US">
                <a:solidFill>
                  <a:srgbClr val="0000FF"/>
                </a:solidFill>
              </a:rPr>
              <a:t>                   EAT</a:t>
            </a:r>
          </a:p>
          <a:p>
            <a:pPr>
              <a:lnSpc>
                <a:spcPct val="80000"/>
              </a:lnSpc>
              <a:buFont typeface="Monotype Sorts" charset="2"/>
              <a:buNone/>
            </a:pPr>
            <a:endParaRPr lang="en-US">
              <a:solidFill>
                <a:srgbClr val="0000FF"/>
              </a:solidFill>
            </a:endParaRPr>
          </a:p>
          <a:p>
            <a:pPr>
              <a:lnSpc>
                <a:spcPct val="80000"/>
              </a:lnSpc>
              <a:buFont typeface="Monotype Sorts" charset="2"/>
              <a:buNone/>
            </a:pPr>
            <a:r>
              <a:rPr lang="en-US">
                <a:solidFill>
                  <a:srgbClr val="0000FF"/>
                </a:solidFill>
              </a:rPr>
              <a:t>               DiningPhilosophers.putdown (i);</a:t>
            </a:r>
          </a:p>
          <a:p>
            <a:pPr>
              <a:lnSpc>
                <a:spcPct val="80000"/>
              </a:lnSpc>
              <a:buFont typeface="Monotype Sorts" charset="2"/>
              <a:buNone/>
            </a:pPr>
            <a:endParaRPr lang="en-US">
              <a:solidFill>
                <a:srgbClr val="0000FF"/>
              </a:solidFill>
            </a:endParaRPr>
          </a:p>
          <a:p>
            <a:pPr>
              <a:lnSpc>
                <a:spcPct val="80000"/>
              </a:lnSpc>
              <a:buFont typeface="Monotype Sorts" charset="2"/>
              <a:buNone/>
            </a:pPr>
            <a:endParaRPr lang="en-US">
              <a:solidFill>
                <a:srgbClr val="0000FF"/>
              </a:solidFill>
            </a:endParaRPr>
          </a:p>
          <a:p>
            <a:pPr>
              <a:lnSpc>
                <a:spcPct val="80000"/>
              </a:lnSpc>
              <a:buFont typeface="Monotype Sorts" charset="2"/>
              <a:buNone/>
            </a:pPr>
            <a:r>
              <a:rPr lang="en-US" i="1">
                <a:solidFill>
                  <a:srgbClr val="0000FF"/>
                </a:solidFill>
              </a:rPr>
              <a:t>       </a:t>
            </a:r>
          </a:p>
        </p:txBody>
      </p:sp>
      <p:sp>
        <p:nvSpPr>
          <p:cNvPr id="93188" name="Rectangle 2"/>
          <p:cNvSpPr>
            <a:spLocks noChangeArrowheads="1"/>
          </p:cNvSpPr>
          <p:nvPr/>
        </p:nvSpPr>
        <p:spPr bwMode="auto">
          <a:xfrm>
            <a:off x="1035050" y="211138"/>
            <a:ext cx="7916863" cy="638175"/>
          </a:xfrm>
          <a:prstGeom prst="rect">
            <a:avLst/>
          </a:prstGeom>
          <a:noFill/>
          <a:ln w="9525">
            <a:noFill/>
            <a:miter lim="800000"/>
            <a:headEnd/>
            <a:tailEnd/>
          </a:ln>
        </p:spPr>
        <p:txBody>
          <a:bodyPr anchor="b"/>
          <a:lstStyle/>
          <a:p>
            <a:pPr algn="ctr" eaLnBrk="1" hangingPunct="1"/>
            <a:r>
              <a:rPr lang="en-US" sz="3200" b="1">
                <a:solidFill>
                  <a:srgbClr val="006699"/>
                </a:solidFill>
                <a:latin typeface="Arial" charset="0"/>
              </a:rPr>
              <a:t>Solution to Dining Philosophers (Cont.)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P</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Font typeface="Monotype Sorts" pitchFamily="-84" charset="2"/>
              <a:buNone/>
              <a:tabLst>
                <a:tab pos="1828800" algn="l"/>
                <a:tab pos="2217738" algn="l"/>
              </a:tabLst>
            </a:pPr>
            <a:endParaRPr lang="en-US" altLang="en-US" sz="16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Font typeface="Monotype Sorts" pitchFamily="-84" charset="2"/>
              <a:buNone/>
              <a:tabLst>
                <a:tab pos="1828800" algn="l"/>
                <a:tab pos="2217738" algn="l"/>
              </a:tabLst>
            </a:pPr>
            <a:r>
              <a:rPr lang="en-US" altLang="en-US" sz="16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972207" y="197632"/>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r>
              <a:rPr lang="en-US" altLang="en-US" dirty="0"/>
              <a:t>FCFS frequently not adequate </a:t>
            </a:r>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pPr>
            <a:r>
              <a:rPr lang="en-US" altLang="en-US" dirty="0"/>
              <a:t>The process with the shortest time is allocated the resource first</a:t>
            </a:r>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dirty="0"/>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16859</TotalTime>
  <Words>4878</Words>
  <Application>Microsoft Office PowerPoint</Application>
  <PresentationFormat>Presentación en pantalla (4:3)</PresentationFormat>
  <Paragraphs>783</Paragraphs>
  <Slides>76</Slides>
  <Notes>57</Notes>
  <HiddenSlides>14</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76</vt:i4>
      </vt:variant>
    </vt:vector>
  </HeadingPairs>
  <TitlesOfParts>
    <vt:vector size="85" baseType="lpstr">
      <vt:lpstr>Arial</vt:lpstr>
      <vt:lpstr>Courier New</vt:lpstr>
      <vt:lpstr>Helvetica</vt:lpstr>
      <vt:lpstr>Monotype Sorts</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Classical Problems of Synchronization</vt:lpstr>
      <vt:lpstr>Bounded-Buffer Problem</vt:lpstr>
      <vt:lpstr>Bounded Buffer Problem (Cont.)</vt:lpstr>
      <vt:lpstr>Bounded Buffer Problem (Cont.)</vt:lpstr>
      <vt:lpstr>Readers-Writers Problem</vt:lpstr>
      <vt:lpstr>Readers-Writers Problem (Cont.)</vt:lpstr>
      <vt:lpstr>Readers-Writers Problem (Cont.)</vt:lpstr>
      <vt:lpstr>Dining-Philosophers Problem</vt:lpstr>
      <vt:lpstr>Dining-Philosophers Problem (Cont.)</vt:lpstr>
      <vt:lpstr>Problems with Semaphores</vt:lpstr>
      <vt:lpstr>Monitors</vt:lpstr>
      <vt:lpstr>Schematic view of a Monitor</vt:lpstr>
      <vt:lpstr>Condition Variables</vt:lpstr>
      <vt:lpstr> Monitor with Condition Variables</vt:lpstr>
      <vt:lpstr>Solution to Dining Philosophers</vt:lpstr>
      <vt:lpstr>Solution to Dining Philosophers (Cont.)</vt:lpstr>
      <vt:lpstr>Presentación de PowerPoint</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Presentación de PowerPoint</vt:lpstr>
      <vt:lpstr>Presentación de PowerPoint</vt:lpstr>
      <vt:lpstr>A Monitor to Allocate Single Resource</vt:lpstr>
      <vt:lpstr>Single Resource Monitor (Cont.)</vt:lpstr>
      <vt:lpstr>Liveness</vt:lpstr>
      <vt:lpstr>Liveness</vt:lpstr>
      <vt:lpstr>Liveness</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Prestamo Estudiantes</cp:lastModifiedBy>
  <cp:revision>365</cp:revision>
  <cp:lastPrinted>2020-11-04T14:30:39Z</cp:lastPrinted>
  <dcterms:created xsi:type="dcterms:W3CDTF">2011-01-13T23:43:38Z</dcterms:created>
  <dcterms:modified xsi:type="dcterms:W3CDTF">2025-09-01T21:30:25Z</dcterms:modified>
</cp:coreProperties>
</file>